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8b1e78dc7140ff" /><Relationship Type="http://schemas.openxmlformats.org/officeDocument/2006/relationships/extended-properties" Target="/docProps/app.xml" Id="R00d84f9236184bbd" /><Relationship Type="http://schemas.openxmlformats.org/officeDocument/2006/relationships/officeDocument" Target="/ppt/presentation.xml" Id="R301e72b390414acd" /></Relationships>
</file>

<file path=ppt/presentation.xml><?xml version="1.0" encoding="utf-8"?>
<p:presentation xmlns:p="http://schemas.openxmlformats.org/presentationml/2006/main">
  <p:sldMasterIdLst>
    <p:sldMasterId xmlns:r="http://schemas.openxmlformats.org/officeDocument/2006/relationships" id="2147483648" r:id="Rd5156ccb1fd44bd2"/>
  </p:sldMasterIdLst>
  <p:notesMasterIdLst>
    <p:notesMasterId xmlns:r="http://schemas.openxmlformats.org/officeDocument/2006/relationships" r:id="Rd0a54968178e45d6"/>
  </p:notesMasterIdLst>
  <p:sldIdLst>
    <p:sldId xmlns:r="http://schemas.openxmlformats.org/officeDocument/2006/relationships" id="256" r:id="R7dfb65d385284563"/>
    <p:sldId xmlns:r="http://schemas.openxmlformats.org/officeDocument/2006/relationships" id="257" r:id="Re289d9afcc534e5e"/>
    <p:sldId xmlns:r="http://schemas.openxmlformats.org/officeDocument/2006/relationships" id="258" r:id="Ra540b7653b3947f9"/>
    <p:sldId xmlns:r="http://schemas.openxmlformats.org/officeDocument/2006/relationships" id="259" r:id="R71ac0cf9ed63410f"/>
    <p:sldId xmlns:r="http://schemas.openxmlformats.org/officeDocument/2006/relationships" id="260" r:id="Rbaebac464684427f"/>
    <p:sldId xmlns:r="http://schemas.openxmlformats.org/officeDocument/2006/relationships" id="261" r:id="R6b06b416365a46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c8b34fe56046bd" /><Relationship Type="http://schemas.openxmlformats.org/officeDocument/2006/relationships/slideMaster" Target="/ppt/slideMasters/slideMaster1.xml" Id="Rd5156ccb1fd44bd2" /><Relationship Type="http://schemas.openxmlformats.org/officeDocument/2006/relationships/notesMaster" Target="/ppt/notesMasters/notesMaster1.xml" Id="Rd0a54968178e45d6" /><Relationship Type="http://schemas.openxmlformats.org/officeDocument/2006/relationships/presProps" Target="/ppt/presProps.xml" Id="Ra1461406e7c84493" /><Relationship Type="http://schemas.openxmlformats.org/officeDocument/2006/relationships/tableStyles" Target="/ppt/tableStyles.xml" Id="Rcb817f33df4542b7" /><Relationship Type="http://schemas.openxmlformats.org/officeDocument/2006/relationships/slide" Target="/ppt/slides/slide1.xml" Id="R7dfb65d385284563" /><Relationship Type="http://schemas.openxmlformats.org/officeDocument/2006/relationships/slide" Target="/ppt/slides/slide2.xml" Id="Re289d9afcc534e5e" /><Relationship Type="http://schemas.openxmlformats.org/officeDocument/2006/relationships/slide" Target="/ppt/slides/slide3.xml" Id="Ra540b7653b3947f9" /><Relationship Type="http://schemas.openxmlformats.org/officeDocument/2006/relationships/slide" Target="/ppt/slides/slide4.xml" Id="R71ac0cf9ed63410f" /><Relationship Type="http://schemas.openxmlformats.org/officeDocument/2006/relationships/slide" Target="/ppt/slides/slide5.xml" Id="Rbaebac464684427f" /><Relationship Type="http://schemas.openxmlformats.org/officeDocument/2006/relationships/slide" Target="/ppt/slides/slide6.xml" Id="R6b06b416365a46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1d9696a50b41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145ba7f11c4c15" /><Relationship Type="http://schemas.openxmlformats.org/officeDocument/2006/relationships/notesMaster" Target="/ppt/notesMasters/notesMaster1.xml" Id="R0bb503cbed9b4b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fe987d32f8403d" /><Relationship Type="http://schemas.openxmlformats.org/officeDocument/2006/relationships/notesMaster" Target="/ppt/notesMasters/notesMaster1.xml" Id="Rf69c3c9bfc724b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1ff870f85d48ff" /><Relationship Type="http://schemas.openxmlformats.org/officeDocument/2006/relationships/notesMaster" Target="/ppt/notesMasters/notesMaster1.xml" Id="Re382c7aa8c6f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eabf83e14548e4" /><Relationship Type="http://schemas.openxmlformats.org/officeDocument/2006/relationships/notesMaster" Target="/ppt/notesMasters/notesMaster1.xml" Id="R35b8561a99a443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7d98c1139941bb" /><Relationship Type="http://schemas.openxmlformats.org/officeDocument/2006/relationships/notesMaster" Target="/ppt/notesMasters/notesMaster1.xml" Id="Rd161a5f4a9c74d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22588e3f584e6b" /><Relationship Type="http://schemas.openxmlformats.org/officeDocument/2006/relationships/notesMaster" Target="/ppt/notesMasters/notesMaster1.xml" Id="R10bac647d0fe49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FlowFreeze is an analyst-review prototype for exploring suspicious fund flows with generated data. This project is not affiliated with or endorsed by upay BD beyond the context that it was built for an upay BD sponsored hackathon. It uses no upay systems or production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the question the prototype explores, not as a measured claim about upay operations. All example flows in the demo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audience through the application. Explain that the timestamp bounds the graph, taint remains an estimate, model scores are advisory, policy rules produce a bounded proposal, and the analyst decision is separately audited. No step changes a real wallet.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Figures from ml/artifacts/metrics.json, seed 42. Fraud test precision, recall, F1, and average precision are all 1.0. Next-move accuracy, macro F1, and macro OVR average precision are also 1.0. The same eight template families appear in each split, so these scores are deliberately presented with a prominent caveat.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ml/artifacts/end_to_end_metrics.json, seed 42, test split. The change column is FlowFreeze network minus the direct-recipient-only strategy. More estimated tainted value is accompanied by a large increase in estimated legitimate value affected, especially in mixed-balance cases. These are label-based counterfactuals, not observed business outcomes. Timing is hardware-dependent and excludes process startup, initial feature-table construction, and model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stating that the prototype is not ready for real-world use. A separately authorized validation would need provider and legal approval, representative independent labels, privacy/security controls, rigorous temporal and subgroup evaluation, and designed human escalation and appeal. See docs/RESPONSIBLE_AI.md and 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5c1960d2b84d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cb2e7ee2794dfe" /><Relationship Type="http://schemas.openxmlformats.org/officeDocument/2006/relationships/slideLayout" Target="/ppt/slideLayouts/slideLayout1.xml" Id="Rf93737c2faf547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3737c2faf547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932ceac48042aa" /><Relationship Type="http://schemas.openxmlformats.org/officeDocument/2006/relationships/notesSlide" Target="/ppt/notesSlides/notesSlide1.xml" Id="R5a82e1af529646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31a40cb21b4a5e" /><Relationship Type="http://schemas.openxmlformats.org/officeDocument/2006/relationships/notesSlide" Target="/ppt/notesSlides/notesSlide2.xml" Id="R8bde6bd40c544d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6a120db25a4d09" /><Relationship Type="http://schemas.openxmlformats.org/officeDocument/2006/relationships/notesSlide" Target="/ppt/notesSlides/notesSlide3.xml" Id="R904bdbf21ea147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ca5666dc9b4536" /><Relationship Type="http://schemas.openxmlformats.org/officeDocument/2006/relationships/notesSlide" Target="/ppt/notesSlides/notesSlide4.xml" Id="R7d6046d2aa274a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aa1bf8dad44e08" /><Relationship Type="http://schemas.openxmlformats.org/officeDocument/2006/relationships/notesSlide" Target="/ppt/notesSlides/notesSlide5.xml" Id="R64a1d935ea5845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94dbd3df2d46fb" /><Relationship Type="http://schemas.openxmlformats.org/officeDocument/2006/relationships/notesSlide" Target="/ppt/notesSlides/notesSlide6.xml" Id="Rd091cc211023420e" /></Relationships>
</file>

<file path=ppt/slides/slide1.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FAFBF8-059C-43CA-8A00-FA489A0B8D29}"/>
              </a:ext>
            </a:extLst>
          </p:cNvPr>
          <p:cNvSpPr>
            <a:spLocks xmlns:a="http://schemas.openxmlformats.org/drawingml/2006/main" noGrp="1"/>
          </p:cNvSpPr>
          <p:nvPr/>
        </p:nvSpPr>
        <p:spPr>
          <a:xfrm xmlns:a="http://schemas.openxmlformats.org/drawingml/2006/main">
            <a:off x="742950" y="74295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FLOWFREEZE</a:t>
            </a:r>
          </a:p>
        </p:txBody>
      </p:sp>
      <p:sp>
        <p:nvSpPr>
          <p:cNvPr id="2" name="">
            <a:extLst xmlns:a="http://schemas.openxmlformats.org/drawingml/2006/main">
              <a:ext uri="{FF2B5EF4-FFF2-40B4-BE49-F238E27FC236}">
                <a16:creationId xmlns:a16="http://schemas.microsoft.com/office/drawing/2014/main" id="{C74837F1-E637-4D11-BE00-6440CC595250}"/>
              </a:ext>
            </a:extLst>
          </p:cNvPr>
          <p:cNvSpPr>
            <a:spLocks xmlns:a="http://schemas.openxmlformats.org/drawingml/2006/main" noGrp="1"/>
          </p:cNvSpPr>
          <p:nvPr/>
        </p:nvSpPr>
        <p:spPr>
          <a:xfrm xmlns:a="http://schemas.openxmlformats.org/drawingml/2006/main">
            <a:off x="742950" y="1809750"/>
            <a:ext cx="942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Synthetic fund-flow investigation</a:t>
            </a:r>
          </a:p>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for analyst review</a:t>
            </a:r>
          </a:p>
        </p:txBody>
      </p:sp>
      <p:sp>
        <p:nvSpPr>
          <p:cNvPr id="3" name="">
            <a:extLst xmlns:a="http://schemas.openxmlformats.org/drawingml/2006/main">
              <a:ext uri="{FF2B5EF4-FFF2-40B4-BE49-F238E27FC236}">
                <a16:creationId xmlns:a16="http://schemas.microsoft.com/office/drawing/2014/main" id="{6EB69608-2D1A-4255-93A5-B2BEE69498EE}"/>
              </a:ext>
            </a:extLst>
          </p:cNvPr>
          <p:cNvSpPr>
            <a:spLocks xmlns:a="http://schemas.openxmlformats.org/drawingml/2006/main" noGrp="1"/>
          </p:cNvSpPr>
          <p:nvPr/>
        </p:nvSpPr>
        <p:spPr>
          <a:xfrm xmlns:a="http://schemas.openxmlformats.org/drawingml/2006/main">
            <a:off x="762000" y="41910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a:solidFill>
                  <a:srgbClr val="C9E96B"/>
                </a:solidFill>
                <a:latin typeface="Arial"/>
                <a:ea typeface="Arial"/>
                <a:cs typeface="Arial"/>
              </a:defRPr>
            </a:pPr>
            <a:r>
              <a:rPr sz="1650">
                <a:solidFill>
                  <a:srgbClr val="C9E96B"/>
                </a:solidFill>
                <a:latin typeface="Arial"/>
                <a:ea typeface="Arial"/>
                <a:cs typeface="Arial"/>
              </a:rPr>
              <a:t>upay BD MFS sponsored hackathon · Prototype demonstration</a:t>
            </a:r>
          </a:p>
        </p:txBody>
      </p:sp>
      <p:sp>
        <p:nvSpPr>
          <p:cNvPr id="4" name="">
            <a:extLst xmlns:a="http://schemas.openxmlformats.org/drawingml/2006/main">
              <a:ext uri="{FF2B5EF4-FFF2-40B4-BE49-F238E27FC236}">
                <a16:creationId xmlns:a16="http://schemas.microsoft.com/office/drawing/2014/main" id="{4F0BD3F9-0F35-4B47-9C14-57C1D4A12876}"/>
              </a:ext>
            </a:extLst>
          </p:cNvPr>
          <p:cNvSpPr>
            <a:spLocks xmlns:a="http://schemas.openxmlformats.org/drawingml/2006/main" noGrp="1"/>
          </p:cNvSpPr>
          <p:nvPr/>
        </p:nvSpPr>
        <p:spPr>
          <a:xfrm xmlns:a="http://schemas.openxmlformats.org/drawingml/2006/main">
            <a:off x="762000" y="5638800"/>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D2DED6"/>
                </a:solidFill>
                <a:latin typeface="Arial"/>
                <a:ea typeface="Arial"/>
                <a:cs typeface="Arial"/>
              </a:defRPr>
            </a:pPr>
            <a:r>
              <a:rPr sz="1350">
                <a:solidFill>
                  <a:srgbClr val="D2DED6"/>
                </a:solidFill>
                <a:latin typeface="Arial"/>
                <a:ea typeface="Arial"/>
                <a:cs typeface="Arial"/>
              </a:rPr>
              <a:t>Synthetic data only · No provider connection · No automatic wallet action</a:t>
            </a:r>
          </a:p>
        </p:txBody>
      </p:sp>
    </p:spTree>
    <p:extLst>
      <p:ext uri="{BB962C8B-B14F-4D97-AF65-F5344CB8AC3E}">
        <p14:creationId xmlns:p14="http://schemas.microsoft.com/office/powerpoint/2010/main" val="1557422685"/>
      </p:ext>
    </p:extLst>
  </p:cSld>
</p:sld>
</file>

<file path=ppt/slides/slide2.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F1605F-673A-4B5C-BF0F-2EBCEBF07BF7}"/>
              </a:ext>
            </a:extLst>
          </p:cNvPr>
          <p:cNvSpPr>
            <a:spLocks xmlns:a="http://schemas.openxmlformats.org/drawingml/2006/main" noGrp="1"/>
          </p:cNvSpPr>
          <p:nvPr/>
        </p:nvSpPr>
        <p:spPr>
          <a:xfrm xmlns:a="http://schemas.openxmlformats.org/drawingml/2006/main">
            <a:off x="685800" y="4762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173B36"/>
                </a:solidFill>
                <a:latin typeface="Arial"/>
                <a:ea typeface="Arial"/>
                <a:cs typeface="Arial"/>
              </a:defRPr>
            </a:pPr>
            <a:r>
              <a:rPr sz="3000" b="1">
                <a:solidFill>
                  <a:srgbClr val="173B36"/>
                </a:solidFill>
                <a:latin typeface="Arial"/>
                <a:ea typeface="Arial"/>
                <a:cs typeface="Arial"/>
              </a:rPr>
              <a:t>The incident starts with one reported transfer</a:t>
            </a:r>
          </a:p>
        </p:txBody>
      </p:sp>
      <p:sp>
        <p:nvSpPr>
          <p:cNvPr id="2" name="">
            <a:extLst xmlns:a="http://schemas.openxmlformats.org/drawingml/2006/main">
              <a:ext uri="{FF2B5EF4-FFF2-40B4-BE49-F238E27FC236}">
                <a16:creationId xmlns:a16="http://schemas.microsoft.com/office/drawing/2014/main" id="{45AC81E3-F88B-4CDD-B980-909A941BF2A2}"/>
              </a:ext>
            </a:extLst>
          </p:cNvPr>
          <p:cNvSpPr>
            <a:spLocks xmlns:a="http://schemas.openxmlformats.org/drawingml/2006/main" noGrp="1"/>
          </p:cNvSpPr>
          <p:nvPr/>
        </p:nvSpPr>
        <p:spPr>
          <a:xfrm xmlns:a="http://schemas.openxmlformats.org/drawingml/2006/main">
            <a:off x="685800" y="13525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a:solidFill>
                  <a:srgbClr val="64756E"/>
                </a:solidFill>
                <a:latin typeface="Arial"/>
                <a:ea typeface="Arial"/>
                <a:cs typeface="Arial"/>
              </a:defRPr>
            </a:pPr>
            <a:r>
              <a:rPr sz="2025">
                <a:solidFill>
                  <a:srgbClr val="64756E"/>
                </a:solidFill>
                <a:latin typeface="Arial"/>
                <a:ea typeface="Arial"/>
                <a:cs typeface="Arial"/>
              </a:rPr>
              <a:t>The analyst needs a time-bounded view of where the funds moved and what may remain in digital wallets.</a:t>
            </a:r>
          </a:p>
        </p:txBody>
      </p:sp>
      <p:sp>
        <p:nvSpPr>
          <p:cNvPr id="3" name="">
            <a:extLst xmlns:a="http://schemas.openxmlformats.org/drawingml/2006/main">
              <a:ext uri="{FF2B5EF4-FFF2-40B4-BE49-F238E27FC236}">
                <a16:creationId xmlns:a16="http://schemas.microsoft.com/office/drawing/2014/main" id="{3BB5F8E7-9C16-4E71-9D9B-CC25CF9A6FF8}"/>
              </a:ext>
            </a:extLst>
          </p:cNvPr>
          <p:cNvSpPr>
            <a:spLocks xmlns:a="http://schemas.openxmlformats.org/drawingml/2006/main" noGrp="1"/>
          </p:cNvSpPr>
          <p:nvPr/>
        </p:nvSpPr>
        <p:spPr>
          <a:xfrm xmlns:a="http://schemas.openxmlformats.org/drawingml/2006/main">
            <a:off x="819150" y="2857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2E755C"/>
                </a:solidFill>
                <a:latin typeface="Arial"/>
                <a:ea typeface="Arial"/>
                <a:cs typeface="Arial"/>
              </a:defRPr>
            </a:pPr>
            <a:r>
              <a:rPr sz="2025" b="1">
                <a:solidFill>
                  <a:srgbClr val="2E755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5B96189-882F-4096-B249-D01DB339C12F}"/>
              </a:ext>
            </a:extLst>
          </p:cNvPr>
          <p:cNvSpPr>
            <a:spLocks xmlns:a="http://schemas.openxmlformats.org/drawingml/2006/main" noGrp="1"/>
          </p:cNvSpPr>
          <p:nvPr/>
        </p:nvSpPr>
        <p:spPr>
          <a:xfrm xmlns:a="http://schemas.openxmlformats.org/drawingml/2006/main">
            <a:off x="819150" y="34480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3B36"/>
                </a:solidFill>
                <a:latin typeface="Arial"/>
                <a:ea typeface="Arial"/>
                <a:cs typeface="Arial"/>
              </a:defRPr>
            </a:pPr>
            <a:r>
              <a:rPr sz="1875" b="1">
                <a:solidFill>
                  <a:srgbClr val="173B36"/>
                </a:solidFill>
                <a:latin typeface="Arial"/>
                <a:ea typeface="Arial"/>
                <a:cs typeface="Arial"/>
              </a:rPr>
              <a:t>Reported transfer</a:t>
            </a:r>
          </a:p>
        </p:txBody>
      </p:sp>
      <p:sp>
        <p:nvSpPr>
          <p:cNvPr id="5" name="">
            <a:extLst xmlns:a="http://schemas.openxmlformats.org/drawingml/2006/main">
              <a:ext uri="{FF2B5EF4-FFF2-40B4-BE49-F238E27FC236}">
                <a16:creationId xmlns:a16="http://schemas.microsoft.com/office/drawing/2014/main" id="{5F7BDD14-444E-45AA-92F6-E2E7293C9914}"/>
              </a:ext>
            </a:extLst>
          </p:cNvPr>
          <p:cNvSpPr>
            <a:spLocks xmlns:a="http://schemas.openxmlformats.org/drawingml/2006/main" noGrp="1"/>
          </p:cNvSpPr>
          <p:nvPr/>
        </p:nvSpPr>
        <p:spPr>
          <a:xfrm xmlns:a="http://schemas.openxmlformats.org/drawingml/2006/main">
            <a:off x="819150" y="4000500"/>
            <a:ext cx="3000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a:solidFill>
                  <a:srgbClr val="64756E"/>
                </a:solidFill>
                <a:latin typeface="Arial"/>
                <a:ea typeface="Arial"/>
                <a:cs typeface="Arial"/>
              </a:defRPr>
            </a:pPr>
            <a:r>
              <a:rPr sz="1500">
                <a:solidFill>
                  <a:srgbClr val="64756E"/>
                </a:solidFill>
                <a:latin typeface="Arial"/>
                <a:ea typeface="Arial"/>
                <a:cs typeface="Arial"/>
              </a:rPr>
              <a:t>Anchor the case to the transaction and analysis timestamp.</a:t>
            </a:r>
          </a:p>
        </p:txBody>
      </p:sp>
      <p:sp>
        <p:nvSpPr>
          <p:cNvPr id="6" name="">
            <a:extLst xmlns:a="http://schemas.openxmlformats.org/drawingml/2006/main">
              <a:ext uri="{FF2B5EF4-FFF2-40B4-BE49-F238E27FC236}">
                <a16:creationId xmlns:a16="http://schemas.microsoft.com/office/drawing/2014/main" id="{27435C5C-0BC3-4C9F-B4DF-6F2B9B9E704D}"/>
              </a:ext>
            </a:extLst>
          </p:cNvPr>
          <p:cNvSpPr>
            <a:spLocks xmlns:a="http://schemas.openxmlformats.org/drawingml/2006/main" noGrp="1"/>
          </p:cNvSpPr>
          <p:nvPr/>
        </p:nvSpPr>
        <p:spPr>
          <a:xfrm xmlns:a="http://schemas.openxmlformats.org/drawingml/2006/main">
            <a:off x="4362450" y="2857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2E755C"/>
                </a:solidFill>
                <a:latin typeface="Arial"/>
                <a:ea typeface="Arial"/>
                <a:cs typeface="Arial"/>
              </a:defRPr>
            </a:pPr>
            <a:r>
              <a:rPr sz="2025" b="1">
                <a:solidFill>
                  <a:srgbClr val="2E755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27D537A-80EF-4C03-8CAD-EE4CD3D778FD}"/>
              </a:ext>
            </a:extLst>
          </p:cNvPr>
          <p:cNvSpPr>
            <a:spLocks xmlns:a="http://schemas.openxmlformats.org/drawingml/2006/main" noGrp="1"/>
          </p:cNvSpPr>
          <p:nvPr/>
        </p:nvSpPr>
        <p:spPr>
          <a:xfrm xmlns:a="http://schemas.openxmlformats.org/drawingml/2006/main">
            <a:off x="4362450" y="34480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3B36"/>
                </a:solidFill>
                <a:latin typeface="Arial"/>
                <a:ea typeface="Arial"/>
                <a:cs typeface="Arial"/>
              </a:defRPr>
            </a:pPr>
            <a:r>
              <a:rPr sz="1875" b="1">
                <a:solidFill>
                  <a:srgbClr val="173B36"/>
                </a:solidFill>
                <a:latin typeface="Arial"/>
                <a:ea typeface="Arial"/>
                <a:cs typeface="Arial"/>
              </a:rPr>
              <a:t>Observed movement</a:t>
            </a:r>
          </a:p>
        </p:txBody>
      </p:sp>
      <p:sp>
        <p:nvSpPr>
          <p:cNvPr id="8" name="">
            <a:extLst xmlns:a="http://schemas.openxmlformats.org/drawingml/2006/main">
              <a:ext uri="{FF2B5EF4-FFF2-40B4-BE49-F238E27FC236}">
                <a16:creationId xmlns:a16="http://schemas.microsoft.com/office/drawing/2014/main" id="{70E03447-895E-429D-8B2A-2A729610D89F}"/>
              </a:ext>
            </a:extLst>
          </p:cNvPr>
          <p:cNvSpPr>
            <a:spLocks xmlns:a="http://schemas.openxmlformats.org/drawingml/2006/main" noGrp="1"/>
          </p:cNvSpPr>
          <p:nvPr/>
        </p:nvSpPr>
        <p:spPr>
          <a:xfrm xmlns:a="http://schemas.openxmlformats.org/drawingml/2006/main">
            <a:off x="4362450" y="4000500"/>
            <a:ext cx="3000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a:solidFill>
                  <a:srgbClr val="64756E"/>
                </a:solidFill>
                <a:latin typeface="Arial"/>
                <a:ea typeface="Arial"/>
                <a:cs typeface="Arial"/>
              </a:defRPr>
            </a:pPr>
            <a:r>
              <a:rPr sz="1500">
                <a:solidFill>
                  <a:srgbClr val="64756E"/>
                </a:solidFill>
                <a:latin typeface="Arial"/>
                <a:ea typeface="Arial"/>
                <a:cs typeface="Arial"/>
              </a:rPr>
              <a:t>Trace visible transfers, branches, and cash-outs across wallets.</a:t>
            </a:r>
          </a:p>
        </p:txBody>
      </p:sp>
      <p:sp>
        <p:nvSpPr>
          <p:cNvPr id="9" name="">
            <a:extLst xmlns:a="http://schemas.openxmlformats.org/drawingml/2006/main">
              <a:ext uri="{FF2B5EF4-FFF2-40B4-BE49-F238E27FC236}">
                <a16:creationId xmlns:a16="http://schemas.microsoft.com/office/drawing/2014/main" id="{D83B84D0-735F-4DEC-AC7E-CB46CDD912DB}"/>
              </a:ext>
            </a:extLst>
          </p:cNvPr>
          <p:cNvSpPr>
            <a:spLocks xmlns:a="http://schemas.openxmlformats.org/drawingml/2006/main" noGrp="1"/>
          </p:cNvSpPr>
          <p:nvPr/>
        </p:nvSpPr>
        <p:spPr>
          <a:xfrm xmlns:a="http://schemas.openxmlformats.org/drawingml/2006/main">
            <a:off x="7905750" y="2857500"/>
            <a:ext cx="85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2E755C"/>
                </a:solidFill>
                <a:latin typeface="Arial"/>
                <a:ea typeface="Arial"/>
                <a:cs typeface="Arial"/>
              </a:defRPr>
            </a:pPr>
            <a:r>
              <a:rPr sz="2025" b="1">
                <a:solidFill>
                  <a:srgbClr val="2E755C"/>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9CDC343-5794-4E5B-A8DC-C0CD57F0EB3F}"/>
              </a:ext>
            </a:extLst>
          </p:cNvPr>
          <p:cNvSpPr>
            <a:spLocks xmlns:a="http://schemas.openxmlformats.org/drawingml/2006/main" noGrp="1"/>
          </p:cNvSpPr>
          <p:nvPr/>
        </p:nvSpPr>
        <p:spPr>
          <a:xfrm xmlns:a="http://schemas.openxmlformats.org/drawingml/2006/main">
            <a:off x="7905750" y="34480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173B36"/>
                </a:solidFill>
                <a:latin typeface="Arial"/>
                <a:ea typeface="Arial"/>
                <a:cs typeface="Arial"/>
              </a:defRPr>
            </a:pPr>
            <a:r>
              <a:rPr sz="1875" b="1">
                <a:solidFill>
                  <a:srgbClr val="173B36"/>
                </a:solidFill>
                <a:latin typeface="Arial"/>
                <a:ea typeface="Arial"/>
                <a:cs typeface="Arial"/>
              </a:rPr>
              <a:t>Mixed balances</a:t>
            </a:r>
          </a:p>
        </p:txBody>
      </p:sp>
      <p:sp>
        <p:nvSpPr>
          <p:cNvPr id="11" name="">
            <a:extLst xmlns:a="http://schemas.openxmlformats.org/drawingml/2006/main">
              <a:ext uri="{FF2B5EF4-FFF2-40B4-BE49-F238E27FC236}">
                <a16:creationId xmlns:a16="http://schemas.microsoft.com/office/drawing/2014/main" id="{68378C8F-47D7-47FC-93EC-7ACE4C984964}"/>
              </a:ext>
            </a:extLst>
          </p:cNvPr>
          <p:cNvSpPr>
            <a:spLocks xmlns:a="http://schemas.openxmlformats.org/drawingml/2006/main" noGrp="1"/>
          </p:cNvSpPr>
          <p:nvPr/>
        </p:nvSpPr>
        <p:spPr>
          <a:xfrm xmlns:a="http://schemas.openxmlformats.org/drawingml/2006/main">
            <a:off x="7905750" y="4000500"/>
            <a:ext cx="3000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a:solidFill>
                  <a:srgbClr val="64756E"/>
                </a:solidFill>
                <a:latin typeface="Arial"/>
                <a:ea typeface="Arial"/>
                <a:cs typeface="Arial"/>
              </a:defRPr>
            </a:pPr>
            <a:r>
              <a:rPr sz="1500">
                <a:solidFill>
                  <a:srgbClr val="64756E"/>
                </a:solidFill>
                <a:latin typeface="Arial"/>
                <a:ea typeface="Arial"/>
                <a:cs typeface="Arial"/>
              </a:rPr>
              <a:t>Estimate attributed and potentially legitimate value separately.</a:t>
            </a:r>
          </a:p>
        </p:txBody>
      </p:sp>
      <p:sp>
        <p:nvSpPr>
          <p:cNvPr id="12" name="">
            <a:extLst xmlns:a="http://schemas.openxmlformats.org/drawingml/2006/main">
              <a:ext uri="{FF2B5EF4-FFF2-40B4-BE49-F238E27FC236}">
                <a16:creationId xmlns:a16="http://schemas.microsoft.com/office/drawing/2014/main" id="{60E0B258-1989-45CA-BEC2-4C3728ACDA12}"/>
              </a:ext>
            </a:extLst>
          </p:cNvPr>
          <p:cNvSpPr>
            <a:spLocks xmlns:a="http://schemas.openxmlformats.org/drawingml/2006/main" noGrp="1"/>
          </p:cNvSpPr>
          <p:nvPr/>
        </p:nvSpPr>
        <p:spPr>
          <a:xfrm xmlns:a="http://schemas.openxmlformats.org/drawingml/2006/main">
            <a:off x="685800" y="57912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E755C"/>
                </a:solidFill>
                <a:latin typeface="Arial"/>
                <a:ea typeface="Arial"/>
                <a:cs typeface="Arial"/>
              </a:defRPr>
            </a:pPr>
            <a:r>
              <a:rPr sz="1500" b="1">
                <a:solidFill>
                  <a:srgbClr val="2E755C"/>
                </a:solidFill>
                <a:latin typeface="Arial"/>
                <a:ea typeface="Arial"/>
                <a:cs typeface="Arial"/>
              </a:rPr>
              <a:t>Prototype question: can a wider, evidence-linked view help an analyst review beyond the direct recipient?</a:t>
            </a:r>
          </a:p>
        </p:txBody>
      </p:sp>
    </p:spTree>
    <p:extLst>
      <p:ext uri="{BB962C8B-B14F-4D97-AF65-F5344CB8AC3E}">
        <p14:creationId xmlns:p14="http://schemas.microsoft.com/office/powerpoint/2010/main" val="14150798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C3EB755-CE33-4C8F-ACC7-70D49F0753BA}"/>
              </a:ext>
            </a:extLst>
          </p:cNvPr>
          <p:cNvSpPr>
            <a:spLocks xmlns:a="http://schemas.openxmlformats.org/drawingml/2006/main" noGrp="1"/>
          </p:cNvSpPr>
          <p:nvPr/>
        </p:nvSpPr>
        <p:spPr>
          <a:xfrm xmlns:a="http://schemas.openxmlformats.org/drawingml/2006/main">
            <a:off x="685800" y="4762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301"/>
          </a:bodyPr>
          <a:lstStyle xmlns:a="http://schemas.openxmlformats.org/drawingml/2006/main"/>
          <a:p xmlns:a="http://schemas.openxmlformats.org/drawingml/2006/main">
            <a:pPr>
              <a:defRPr sz="3000" b="1">
                <a:solidFill>
                  <a:srgbClr val="173B36"/>
                </a:solidFill>
                <a:latin typeface="Arial"/>
                <a:ea typeface="Arial"/>
                <a:cs typeface="Arial"/>
              </a:defRPr>
            </a:pPr>
            <a:r>
              <a:rPr sz="3000" b="1">
                <a:solidFill>
                  <a:srgbClr val="173B36"/>
                </a:solidFill>
                <a:latin typeface="Arial"/>
                <a:ea typeface="Arial"/>
                <a:cs typeface="Arial"/>
              </a:rPr>
              <a:t>One review flow; separate evidence, prediction, policy, and decision</a:t>
            </a:r>
          </a:p>
        </p:txBody>
      </p:sp>
      <p:sp>
        <p:nvSpPr>
          <p:cNvPr id="2" name="">
            <a:extLst xmlns:a="http://schemas.openxmlformats.org/drawingml/2006/main">
              <a:ext uri="{FF2B5EF4-FFF2-40B4-BE49-F238E27FC236}">
                <a16:creationId xmlns:a16="http://schemas.microsoft.com/office/drawing/2014/main" id="{957198EA-A136-4EEA-AD5D-45839A664277}"/>
              </a:ext>
            </a:extLst>
          </p:cNvPr>
          <p:cNvSpPr>
            <a:spLocks xmlns:a="http://schemas.openxmlformats.org/drawingml/2006/main" noGrp="1"/>
          </p:cNvSpPr>
          <p:nvPr/>
        </p:nvSpPr>
        <p:spPr>
          <a:xfrm xmlns:a="http://schemas.openxmlformats.org/drawingml/2006/main">
            <a:off x="819150" y="195262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95E9455-6423-43B5-9DAA-8AA87247A02A}"/>
              </a:ext>
            </a:extLst>
          </p:cNvPr>
          <p:cNvSpPr>
            <a:spLocks xmlns:a="http://schemas.openxmlformats.org/drawingml/2006/main" noGrp="1"/>
          </p:cNvSpPr>
          <p:nvPr/>
        </p:nvSpPr>
        <p:spPr>
          <a:xfrm xmlns:a="http://schemas.openxmlformats.org/drawingml/2006/main">
            <a:off x="819150" y="24669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Open incident</a:t>
            </a:r>
          </a:p>
        </p:txBody>
      </p:sp>
      <p:sp>
        <p:nvSpPr>
          <p:cNvPr id="4" name="">
            <a:extLst xmlns:a="http://schemas.openxmlformats.org/drawingml/2006/main">
              <a:ext uri="{FF2B5EF4-FFF2-40B4-BE49-F238E27FC236}">
                <a16:creationId xmlns:a16="http://schemas.microsoft.com/office/drawing/2014/main" id="{0F857E37-5449-4F4E-A70A-C722B099DC22}"/>
              </a:ext>
            </a:extLst>
          </p:cNvPr>
          <p:cNvSpPr>
            <a:spLocks xmlns:a="http://schemas.openxmlformats.org/drawingml/2006/main" noGrp="1"/>
          </p:cNvSpPr>
          <p:nvPr/>
        </p:nvSpPr>
        <p:spPr>
          <a:xfrm xmlns:a="http://schemas.openxmlformats.org/drawingml/2006/main">
            <a:off x="819150" y="29527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Reported transfer + cutoff</a:t>
            </a:r>
          </a:p>
        </p:txBody>
      </p:sp>
      <p:sp>
        <p:nvSpPr>
          <p:cNvPr id="5" name="">
            <a:extLst xmlns:a="http://schemas.openxmlformats.org/drawingml/2006/main">
              <a:ext uri="{FF2B5EF4-FFF2-40B4-BE49-F238E27FC236}">
                <a16:creationId xmlns:a16="http://schemas.microsoft.com/office/drawing/2014/main" id="{822743C3-1B23-4545-B4DF-158A6DC6AE50}"/>
              </a:ext>
            </a:extLst>
          </p:cNvPr>
          <p:cNvSpPr>
            <a:spLocks xmlns:a="http://schemas.openxmlformats.org/drawingml/2006/main" noGrp="1"/>
          </p:cNvSpPr>
          <p:nvPr/>
        </p:nvSpPr>
        <p:spPr>
          <a:xfrm xmlns:a="http://schemas.openxmlformats.org/drawingml/2006/main">
            <a:off x="4495800" y="195262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9454DB4-5BDB-46FE-B41B-A831B18759C9}"/>
              </a:ext>
            </a:extLst>
          </p:cNvPr>
          <p:cNvSpPr>
            <a:spLocks xmlns:a="http://schemas.openxmlformats.org/drawingml/2006/main" noGrp="1"/>
          </p:cNvSpPr>
          <p:nvPr/>
        </p:nvSpPr>
        <p:spPr>
          <a:xfrm xmlns:a="http://schemas.openxmlformats.org/drawingml/2006/main">
            <a:off x="4495800" y="24669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Trace flow</a:t>
            </a:r>
          </a:p>
        </p:txBody>
      </p:sp>
      <p:sp>
        <p:nvSpPr>
          <p:cNvPr id="7" name="">
            <a:extLst xmlns:a="http://schemas.openxmlformats.org/drawingml/2006/main">
              <a:ext uri="{FF2B5EF4-FFF2-40B4-BE49-F238E27FC236}">
                <a16:creationId xmlns:a16="http://schemas.microsoft.com/office/drawing/2014/main" id="{875C53EE-F39A-4A04-B285-4FA14CAC6A6A}"/>
              </a:ext>
            </a:extLst>
          </p:cNvPr>
          <p:cNvSpPr>
            <a:spLocks xmlns:a="http://schemas.openxmlformats.org/drawingml/2006/main" noGrp="1"/>
          </p:cNvSpPr>
          <p:nvPr/>
        </p:nvSpPr>
        <p:spPr>
          <a:xfrm xmlns:a="http://schemas.openxmlformats.org/drawingml/2006/main">
            <a:off x="4495800" y="29527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Graph paths + cash-outs</a:t>
            </a:r>
          </a:p>
        </p:txBody>
      </p:sp>
      <p:sp>
        <p:nvSpPr>
          <p:cNvPr id="8" name="">
            <a:extLst xmlns:a="http://schemas.openxmlformats.org/drawingml/2006/main">
              <a:ext uri="{FF2B5EF4-FFF2-40B4-BE49-F238E27FC236}">
                <a16:creationId xmlns:a16="http://schemas.microsoft.com/office/drawing/2014/main" id="{2278788F-11AE-4BE2-A6F4-6C0E02B92D90}"/>
              </a:ext>
            </a:extLst>
          </p:cNvPr>
          <p:cNvSpPr>
            <a:spLocks xmlns:a="http://schemas.openxmlformats.org/drawingml/2006/main" noGrp="1"/>
          </p:cNvSpPr>
          <p:nvPr/>
        </p:nvSpPr>
        <p:spPr>
          <a:xfrm xmlns:a="http://schemas.openxmlformats.org/drawingml/2006/main">
            <a:off x="8172450" y="1952625"/>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0486243-79C4-4CB6-96A2-BA08E11FFF9B}"/>
              </a:ext>
            </a:extLst>
          </p:cNvPr>
          <p:cNvSpPr>
            <a:spLocks xmlns:a="http://schemas.openxmlformats.org/drawingml/2006/main" noGrp="1"/>
          </p:cNvSpPr>
          <p:nvPr/>
        </p:nvSpPr>
        <p:spPr>
          <a:xfrm xmlns:a="http://schemas.openxmlformats.org/drawingml/2006/main">
            <a:off x="8172450" y="24669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Estimate taint</a:t>
            </a:r>
          </a:p>
        </p:txBody>
      </p:sp>
      <p:sp>
        <p:nvSpPr>
          <p:cNvPr id="10" name="">
            <a:extLst xmlns:a="http://schemas.openxmlformats.org/drawingml/2006/main">
              <a:ext uri="{FF2B5EF4-FFF2-40B4-BE49-F238E27FC236}">
                <a16:creationId xmlns:a16="http://schemas.microsoft.com/office/drawing/2014/main" id="{9CEE6F7B-C327-43D8-BBAF-D6C7350B36C4}"/>
              </a:ext>
            </a:extLst>
          </p:cNvPr>
          <p:cNvSpPr>
            <a:spLocks xmlns:a="http://schemas.openxmlformats.org/drawingml/2006/main" noGrp="1"/>
          </p:cNvSpPr>
          <p:nvPr/>
        </p:nvSpPr>
        <p:spPr>
          <a:xfrm xmlns:a="http://schemas.openxmlformats.org/drawingml/2006/main">
            <a:off x="8172450" y="29527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Proportional attribution</a:t>
            </a:r>
          </a:p>
        </p:txBody>
      </p:sp>
      <p:sp>
        <p:nvSpPr>
          <p:cNvPr id="11" name="">
            <a:extLst xmlns:a="http://schemas.openxmlformats.org/drawingml/2006/main">
              <a:ext uri="{FF2B5EF4-FFF2-40B4-BE49-F238E27FC236}">
                <a16:creationId xmlns:a16="http://schemas.microsoft.com/office/drawing/2014/main" id="{45BA38CA-4409-4E0F-A0ED-80F5AE8045B9}"/>
              </a:ext>
            </a:extLst>
          </p:cNvPr>
          <p:cNvSpPr>
            <a:spLocks xmlns:a="http://schemas.openxmlformats.org/drawingml/2006/main" noGrp="1"/>
          </p:cNvSpPr>
          <p:nvPr/>
        </p:nvSpPr>
        <p:spPr>
          <a:xfrm xmlns:a="http://schemas.openxmlformats.org/drawingml/2006/main">
            <a:off x="819150" y="39052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26327FF6-DA19-49EC-9419-272E3E2FA4FC}"/>
              </a:ext>
            </a:extLst>
          </p:cNvPr>
          <p:cNvSpPr>
            <a:spLocks xmlns:a="http://schemas.openxmlformats.org/drawingml/2006/main" noGrp="1"/>
          </p:cNvSpPr>
          <p:nvPr/>
        </p:nvSpPr>
        <p:spPr>
          <a:xfrm xmlns:a="http://schemas.openxmlformats.org/drawingml/2006/main">
            <a:off x="819150" y="4419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Review signals</a:t>
            </a:r>
          </a:p>
        </p:txBody>
      </p:sp>
      <p:sp>
        <p:nvSpPr>
          <p:cNvPr id="13" name="">
            <a:extLst xmlns:a="http://schemas.openxmlformats.org/drawingml/2006/main">
              <a:ext uri="{FF2B5EF4-FFF2-40B4-BE49-F238E27FC236}">
                <a16:creationId xmlns:a16="http://schemas.microsoft.com/office/drawing/2014/main" id="{C670BB81-CE25-469A-B5C5-C381F80751A8}"/>
              </a:ext>
            </a:extLst>
          </p:cNvPr>
          <p:cNvSpPr>
            <a:spLocks xmlns:a="http://schemas.openxmlformats.org/drawingml/2006/main" noGrp="1"/>
          </p:cNvSpPr>
          <p:nvPr/>
        </p:nvSpPr>
        <p:spPr>
          <a:xfrm xmlns:a="http://schemas.openxmlformats.org/drawingml/2006/main">
            <a:off x="819150" y="49053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Risk + five-minute next move</a:t>
            </a:r>
          </a:p>
        </p:txBody>
      </p:sp>
      <p:sp>
        <p:nvSpPr>
          <p:cNvPr id="14" name="">
            <a:extLst xmlns:a="http://schemas.openxmlformats.org/drawingml/2006/main">
              <a:ext uri="{FF2B5EF4-FFF2-40B4-BE49-F238E27FC236}">
                <a16:creationId xmlns:a16="http://schemas.microsoft.com/office/drawing/2014/main" id="{6CE28569-2944-46EA-8B3A-646935EA6F98}"/>
              </a:ext>
            </a:extLst>
          </p:cNvPr>
          <p:cNvSpPr>
            <a:spLocks xmlns:a="http://schemas.openxmlformats.org/drawingml/2006/main" noGrp="1"/>
          </p:cNvSpPr>
          <p:nvPr/>
        </p:nvSpPr>
        <p:spPr>
          <a:xfrm xmlns:a="http://schemas.openxmlformats.org/drawingml/2006/main">
            <a:off x="4495800" y="39052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BED17D34-379F-4BCB-BD93-6388B85518DA}"/>
              </a:ext>
            </a:extLst>
          </p:cNvPr>
          <p:cNvSpPr>
            <a:spLocks xmlns:a="http://schemas.openxmlformats.org/drawingml/2006/main" noGrp="1"/>
          </p:cNvSpPr>
          <p:nvPr/>
        </p:nvSpPr>
        <p:spPr>
          <a:xfrm xmlns:a="http://schemas.openxmlformats.org/drawingml/2006/main">
            <a:off x="4495800" y="4419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Read proposal</a:t>
            </a:r>
          </a:p>
        </p:txBody>
      </p:sp>
      <p:sp>
        <p:nvSpPr>
          <p:cNvPr id="16" name="">
            <a:extLst xmlns:a="http://schemas.openxmlformats.org/drawingml/2006/main">
              <a:ext uri="{FF2B5EF4-FFF2-40B4-BE49-F238E27FC236}">
                <a16:creationId xmlns:a16="http://schemas.microsoft.com/office/drawing/2014/main" id="{F70384E2-9B24-458B-97BA-74844ED5ED1B}"/>
              </a:ext>
            </a:extLst>
          </p:cNvPr>
          <p:cNvSpPr>
            <a:spLocks xmlns:a="http://schemas.openxmlformats.org/drawingml/2006/main" noGrp="1"/>
          </p:cNvSpPr>
          <p:nvPr/>
        </p:nvSpPr>
        <p:spPr>
          <a:xfrm xmlns:a="http://schemas.openxmlformats.org/drawingml/2006/main">
            <a:off x="4495800" y="49053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Policy thresholds + evidence</a:t>
            </a:r>
          </a:p>
        </p:txBody>
      </p:sp>
      <p:sp>
        <p:nvSpPr>
          <p:cNvPr id="17" name="">
            <a:extLst xmlns:a="http://schemas.openxmlformats.org/drawingml/2006/main">
              <a:ext uri="{FF2B5EF4-FFF2-40B4-BE49-F238E27FC236}">
                <a16:creationId xmlns:a16="http://schemas.microsoft.com/office/drawing/2014/main" id="{A5B342A0-7384-43E5-B0BB-48E41DB28445}"/>
              </a:ext>
            </a:extLst>
          </p:cNvPr>
          <p:cNvSpPr>
            <a:spLocks xmlns:a="http://schemas.openxmlformats.org/drawingml/2006/main" noGrp="1"/>
          </p:cNvSpPr>
          <p:nvPr/>
        </p:nvSpPr>
        <p:spPr>
          <a:xfrm xmlns:a="http://schemas.openxmlformats.org/drawingml/2006/main">
            <a:off x="8172450" y="39052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2E755C"/>
                </a:solidFill>
                <a:latin typeface="Arial"/>
                <a:ea typeface="Arial"/>
                <a:cs typeface="Arial"/>
              </a:defRPr>
            </a:pPr>
            <a:r>
              <a:rPr sz="2100" b="1">
                <a:solidFill>
                  <a:srgbClr val="2E755C"/>
                </a:solidFill>
                <a:latin typeface="Arial"/>
                <a:ea typeface="Arial"/>
                <a:cs typeface="Arial"/>
              </a:rPr>
              <a:t>06</a:t>
            </a:r>
          </a:p>
        </p:txBody>
      </p:sp>
      <p:sp>
        <p:nvSpPr>
          <p:cNvPr id="18" name="">
            <a:extLst xmlns:a="http://schemas.openxmlformats.org/drawingml/2006/main">
              <a:ext uri="{FF2B5EF4-FFF2-40B4-BE49-F238E27FC236}">
                <a16:creationId xmlns:a16="http://schemas.microsoft.com/office/drawing/2014/main" id="{DA5FFD38-43D2-4BAE-BB61-45656EC38985}"/>
              </a:ext>
            </a:extLst>
          </p:cNvPr>
          <p:cNvSpPr>
            <a:spLocks xmlns:a="http://schemas.openxmlformats.org/drawingml/2006/main" noGrp="1"/>
          </p:cNvSpPr>
          <p:nvPr/>
        </p:nvSpPr>
        <p:spPr>
          <a:xfrm xmlns:a="http://schemas.openxmlformats.org/drawingml/2006/main">
            <a:off x="8172450" y="44196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B36"/>
                </a:solidFill>
                <a:latin typeface="Arial"/>
                <a:ea typeface="Arial"/>
                <a:cs typeface="Arial"/>
              </a:defRPr>
            </a:pPr>
            <a:r>
              <a:rPr sz="1800" b="1">
                <a:solidFill>
                  <a:srgbClr val="173B36"/>
                </a:solidFill>
                <a:latin typeface="Arial"/>
                <a:ea typeface="Arial"/>
                <a:cs typeface="Arial"/>
              </a:rPr>
              <a:t>Record decision</a:t>
            </a:r>
          </a:p>
        </p:txBody>
      </p:sp>
      <p:sp>
        <p:nvSpPr>
          <p:cNvPr id="19" name="">
            <a:extLst xmlns:a="http://schemas.openxmlformats.org/drawingml/2006/main">
              <a:ext uri="{FF2B5EF4-FFF2-40B4-BE49-F238E27FC236}">
                <a16:creationId xmlns:a16="http://schemas.microsoft.com/office/drawing/2014/main" id="{E32082A6-4AD9-4203-926A-0C39DD359F43}"/>
              </a:ext>
            </a:extLst>
          </p:cNvPr>
          <p:cNvSpPr>
            <a:spLocks xmlns:a="http://schemas.openxmlformats.org/drawingml/2006/main" noGrp="1"/>
          </p:cNvSpPr>
          <p:nvPr/>
        </p:nvSpPr>
        <p:spPr>
          <a:xfrm xmlns:a="http://schemas.openxmlformats.org/drawingml/2006/main">
            <a:off x="8172450" y="49053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Analyst action + what-if log</a:t>
            </a:r>
          </a:p>
        </p:txBody>
      </p:sp>
      <p:sp>
        <p:nvSpPr>
          <p:cNvPr id="20" name="">
            <a:extLst xmlns:a="http://schemas.openxmlformats.org/drawingml/2006/main">
              <a:ext uri="{FF2B5EF4-FFF2-40B4-BE49-F238E27FC236}">
                <a16:creationId xmlns:a16="http://schemas.microsoft.com/office/drawing/2014/main" id="{1B3DA7BD-8242-46EC-B70C-E09FB92CF48F}"/>
              </a:ext>
            </a:extLst>
          </p:cNvPr>
          <p:cNvSpPr>
            <a:spLocks xmlns:a="http://schemas.openxmlformats.org/drawingml/2006/main" noGrp="1"/>
          </p:cNvSpPr>
          <p:nvPr/>
        </p:nvSpPr>
        <p:spPr>
          <a:xfrm xmlns:a="http://schemas.openxmlformats.org/drawingml/2006/main">
            <a:off x="685800" y="6019800"/>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E755C"/>
                </a:solidFill>
                <a:latin typeface="Arial"/>
                <a:ea typeface="Arial"/>
                <a:cs typeface="Arial"/>
              </a:defRPr>
            </a:pPr>
            <a:r>
              <a:rPr sz="1425" b="1">
                <a:solidFill>
                  <a:srgbClr val="2E755C"/>
                </a:solidFill>
                <a:latin typeface="Arial"/>
                <a:ea typeface="Arial"/>
                <a:cs typeface="Arial"/>
              </a:rPr>
              <a:t>Scores do not decide. Policy does not execute. The analyst remains responsible for the recorded choice.</a:t>
            </a:r>
          </a:p>
        </p:txBody>
      </p:sp>
    </p:spTree>
    <p:extLst>
      <p:ext uri="{BB962C8B-B14F-4D97-AF65-F5344CB8AC3E}">
        <p14:creationId xmlns:p14="http://schemas.microsoft.com/office/powerpoint/2010/main" val="1134487189"/>
      </p:ext>
    </p:extLst>
  </p:cSld>
</p:sld>
</file>

<file path=ppt/slides/slide4.xml><?xml version="1.0" encoding="utf-8"?>
<p:sld xmlns:p="http://schemas.openxmlformats.org/presentationml/2006/main">
  <p:cSld>
    <p:bg>
      <p:bgPr>
        <a:solidFill xmlns:a="http://schemas.openxmlformats.org/drawingml/2006/main">
          <a:srgbClr val="F5F6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FD39AF-FF39-4C96-886D-34B1F33A1D9B}"/>
              </a:ext>
            </a:extLst>
          </p:cNvPr>
          <p:cNvSpPr>
            <a:spLocks xmlns:a="http://schemas.openxmlformats.org/drawingml/2006/main" noGrp="1"/>
          </p:cNvSpPr>
          <p:nvPr/>
        </p:nvSpPr>
        <p:spPr>
          <a:xfrm xmlns:a="http://schemas.openxmlformats.org/drawingml/2006/main">
            <a:off x="685800" y="4762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279"/>
          </a:bodyPr>
          <a:lstStyle xmlns:a="http://schemas.openxmlformats.org/drawingml/2006/main"/>
          <a:p xmlns:a="http://schemas.openxmlformats.org/drawingml/2006/main">
            <a:pPr>
              <a:defRPr sz="3000" b="1">
                <a:solidFill>
                  <a:srgbClr val="173B36"/>
                </a:solidFill>
                <a:latin typeface="Arial"/>
                <a:ea typeface="Arial"/>
                <a:cs typeface="Arial"/>
              </a:defRPr>
            </a:pPr>
            <a:r>
              <a:rPr sz="3000" b="1">
                <a:solidFill>
                  <a:srgbClr val="173B36"/>
                </a:solidFill>
                <a:latin typeface="Arial"/>
                <a:ea typeface="Arial"/>
                <a:cs typeface="Arial"/>
              </a:rPr>
              <a:t>Models rank synthetic patterns; they do not establish fraud</a:t>
            </a:r>
          </a:p>
        </p:txBody>
      </p:sp>
      <p:sp>
        <p:nvSpPr>
          <p:cNvPr id="2" name="">
            <a:extLst xmlns:a="http://schemas.openxmlformats.org/drawingml/2006/main">
              <a:ext uri="{FF2B5EF4-FFF2-40B4-BE49-F238E27FC236}">
                <a16:creationId xmlns:a16="http://schemas.microsoft.com/office/drawing/2014/main" id="{A95C14E5-83EA-4847-A3B1-FA7F400B3F49}"/>
              </a:ext>
            </a:extLst>
          </p:cNvPr>
          <p:cNvSpPr>
            <a:spLocks xmlns:a="http://schemas.openxmlformats.org/drawingml/2006/main" noGrp="1"/>
          </p:cNvSpPr>
          <p:nvPr/>
        </p:nvSpPr>
        <p:spPr>
          <a:xfrm xmlns:a="http://schemas.openxmlformats.org/drawingml/2006/main">
            <a:off x="781050" y="15621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E755C"/>
                </a:solidFill>
                <a:latin typeface="Arial"/>
                <a:ea typeface="Arial"/>
                <a:cs typeface="Arial"/>
              </a:defRPr>
            </a:pPr>
            <a:r>
              <a:rPr sz="1200" b="1">
                <a:solidFill>
                  <a:srgbClr val="2E755C"/>
                </a:solidFill>
                <a:latin typeface="Arial"/>
                <a:ea typeface="Arial"/>
                <a:cs typeface="Arial"/>
              </a:rPr>
              <a:t>TRAINING SETUP</a:t>
            </a:r>
          </a:p>
        </p:txBody>
      </p:sp>
      <p:sp>
        <p:nvSpPr>
          <p:cNvPr id="3" name="">
            <a:extLst xmlns:a="http://schemas.openxmlformats.org/drawingml/2006/main">
              <a:ext uri="{FF2B5EF4-FFF2-40B4-BE49-F238E27FC236}">
                <a16:creationId xmlns:a16="http://schemas.microsoft.com/office/drawing/2014/main" id="{A83D4711-7222-4EE6-A879-2FA9C8CE2636}"/>
              </a:ext>
            </a:extLst>
          </p:cNvPr>
          <p:cNvSpPr>
            <a:spLocks xmlns:a="http://schemas.openxmlformats.org/drawingml/2006/main" noGrp="1"/>
          </p:cNvSpPr>
          <p:nvPr/>
        </p:nvSpPr>
        <p:spPr>
          <a:xfrm xmlns:a="http://schemas.openxmlformats.org/drawingml/2006/main">
            <a:off x="781050" y="1943100"/>
            <a:ext cx="4095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800 generated cases</a:t>
            </a:r>
          </a:p>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8 scenario families</a:t>
            </a:r>
          </a:p>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560 / 120 / 120 case splits</a:t>
            </a:r>
          </a:p>
        </p:txBody>
      </p:sp>
      <p:sp>
        <p:nvSpPr>
          <p:cNvPr id="4" name="">
            <a:extLst xmlns:a="http://schemas.openxmlformats.org/drawingml/2006/main">
              <a:ext uri="{FF2B5EF4-FFF2-40B4-BE49-F238E27FC236}">
                <a16:creationId xmlns:a16="http://schemas.microsoft.com/office/drawing/2014/main" id="{08E922C3-BF30-4097-AF1A-E24150CFB42E}"/>
              </a:ext>
            </a:extLst>
          </p:cNvPr>
          <p:cNvSpPr>
            <a:spLocks xmlns:a="http://schemas.openxmlformats.org/drawingml/2006/main" noGrp="1"/>
          </p:cNvSpPr>
          <p:nvPr/>
        </p:nvSpPr>
        <p:spPr>
          <a:xfrm xmlns:a="http://schemas.openxmlformats.org/drawingml/2006/main">
            <a:off x="5810250" y="15621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E755C"/>
                </a:solidFill>
                <a:latin typeface="Arial"/>
                <a:ea typeface="Arial"/>
                <a:cs typeface="Arial"/>
              </a:defRPr>
            </a:pPr>
            <a:r>
              <a:rPr sz="1200" b="1">
                <a:solidFill>
                  <a:srgbClr val="2E755C"/>
                </a:solidFill>
                <a:latin typeface="Arial"/>
                <a:ea typeface="Arial"/>
                <a:cs typeface="Arial"/>
              </a:rPr>
              <a:t>MODEL OUTPUTS</a:t>
            </a:r>
          </a:p>
        </p:txBody>
      </p:sp>
      <p:sp>
        <p:nvSpPr>
          <p:cNvPr id="5" name="">
            <a:extLst xmlns:a="http://schemas.openxmlformats.org/drawingml/2006/main">
              <a:ext uri="{FF2B5EF4-FFF2-40B4-BE49-F238E27FC236}">
                <a16:creationId xmlns:a16="http://schemas.microsoft.com/office/drawing/2014/main" id="{09EDDAD1-3F3C-454B-86DD-9B49C415874E}"/>
              </a:ext>
            </a:extLst>
          </p:cNvPr>
          <p:cNvSpPr>
            <a:spLocks xmlns:a="http://schemas.openxmlformats.org/drawingml/2006/main" noGrp="1"/>
          </p:cNvSpPr>
          <p:nvPr/>
        </p:nvSpPr>
        <p:spPr>
          <a:xfrm xmlns:a="http://schemas.openxmlformats.org/drawingml/2006/main">
            <a:off x="5810250" y="1943100"/>
            <a:ext cx="5572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a:solidFill>
                  <a:srgbClr val="173B36"/>
                </a:solidFill>
                <a:latin typeface="Arial"/>
                <a:ea typeface="Arial"/>
                <a:cs typeface="Arial"/>
              </a:defRPr>
            </a:pPr>
            <a:r>
              <a:rPr sz="1725">
                <a:solidFill>
                  <a:srgbClr val="173B36"/>
                </a:solidFill>
                <a:latin typeface="Arial"/>
                <a:ea typeface="Arial"/>
                <a:cs typeface="Arial"/>
              </a:rPr>
              <a:t>Fraud risk</a:t>
            </a:r>
          </a:p>
          <a:p xmlns:a="http://schemas.openxmlformats.org/drawingml/2006/main">
            <a:pPr>
              <a:defRPr sz="1725">
                <a:solidFill>
                  <a:srgbClr val="173B36"/>
                </a:solidFill>
                <a:latin typeface="Arial"/>
                <a:ea typeface="Arial"/>
                <a:cs typeface="Arial"/>
              </a:defRPr>
            </a:pPr>
            <a:r>
              <a:rPr sz="1725">
                <a:solidFill>
                  <a:srgbClr val="173B36"/>
                </a:solidFill>
                <a:latin typeface="Arial"/>
                <a:ea typeface="Arial"/>
                <a:cs typeface="Arial"/>
              </a:rPr>
              <a:t>Likely next movement within 5 minutes</a:t>
            </a:r>
          </a:p>
          <a:p xmlns:a="http://schemas.openxmlformats.org/drawingml/2006/main">
            <a:pPr>
              <a:defRPr sz="1725">
                <a:solidFill>
                  <a:srgbClr val="173B36"/>
                </a:solidFill>
                <a:latin typeface="Arial"/>
                <a:ea typeface="Arial"/>
                <a:cs typeface="Arial"/>
              </a:defRPr>
            </a:pPr>
            <a:r>
              <a:rPr sz="1725">
                <a:solidFill>
                  <a:srgbClr val="173B36"/>
                </a:solidFill>
                <a:latin typeface="Arial"/>
                <a:ea typeface="Arial"/>
                <a:cs typeface="Arial"/>
              </a:rPr>
              <a:t>Validation-fitted calibration for movement scores</a:t>
            </a:r>
          </a:p>
        </p:txBody>
      </p:sp>
      <p:sp>
        <p:nvSpPr>
          <p:cNvPr id="6" name="">
            <a:extLst xmlns:a="http://schemas.openxmlformats.org/drawingml/2006/main">
              <a:ext uri="{FF2B5EF4-FFF2-40B4-BE49-F238E27FC236}">
                <a16:creationId xmlns:a16="http://schemas.microsoft.com/office/drawing/2014/main" id="{127F01B1-DD16-4667-8490-17FE4F71EFA3}"/>
              </a:ext>
            </a:extLst>
          </p:cNvPr>
          <p:cNvSpPr>
            <a:spLocks xmlns:a="http://schemas.openxmlformats.org/drawingml/2006/main" noGrp="1"/>
          </p:cNvSpPr>
          <p:nvPr/>
        </p:nvSpPr>
        <p:spPr>
          <a:xfrm xmlns:a="http://schemas.openxmlformats.org/drawingml/2006/main">
            <a:off x="781050" y="42100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E755C"/>
                </a:solidFill>
                <a:latin typeface="Arial"/>
                <a:ea typeface="Arial"/>
                <a:cs typeface="Arial"/>
              </a:defRPr>
            </a:pPr>
            <a:r>
              <a:rPr sz="1200" b="1">
                <a:solidFill>
                  <a:srgbClr val="2E755C"/>
                </a:solidFill>
                <a:latin typeface="Arial"/>
                <a:ea typeface="Arial"/>
                <a:cs typeface="Arial"/>
              </a:rPr>
              <a:t>HELD-OUT SYNTHETIC TEST</a:t>
            </a:r>
          </a:p>
        </p:txBody>
      </p:sp>
      <p:sp>
        <p:nvSpPr>
          <p:cNvPr id="7" name="">
            <a:extLst xmlns:a="http://schemas.openxmlformats.org/drawingml/2006/main">
              <a:ext uri="{FF2B5EF4-FFF2-40B4-BE49-F238E27FC236}">
                <a16:creationId xmlns:a16="http://schemas.microsoft.com/office/drawing/2014/main" id="{CDFB3437-B876-495B-9FA5-A43D79A1E748}"/>
              </a:ext>
            </a:extLst>
          </p:cNvPr>
          <p:cNvSpPr>
            <a:spLocks xmlns:a="http://schemas.openxmlformats.org/drawingml/2006/main" noGrp="1"/>
          </p:cNvSpPr>
          <p:nvPr/>
        </p:nvSpPr>
        <p:spPr>
          <a:xfrm xmlns:a="http://schemas.openxmlformats.org/drawingml/2006/main">
            <a:off x="781050" y="4610100"/>
            <a:ext cx="4429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Fraud PR-AUC  1.000</a:t>
            </a:r>
          </a:p>
          <a:p xmlns:a="http://schemas.openxmlformats.org/drawingml/2006/main">
            <a:pPr>
              <a:defRPr sz="1950" b="1">
                <a:solidFill>
                  <a:srgbClr val="173B36"/>
                </a:solidFill>
                <a:latin typeface="Arial"/>
                <a:ea typeface="Arial"/>
                <a:cs typeface="Arial"/>
              </a:defRPr>
            </a:pPr>
            <a:r>
              <a:rPr sz="1950" b="1">
                <a:solidFill>
                  <a:srgbClr val="173B36"/>
                </a:solidFill>
                <a:latin typeface="Arial"/>
                <a:ea typeface="Arial"/>
                <a:cs typeface="Arial"/>
              </a:rPr>
              <a:t>Next-move macro F1  1.000</a:t>
            </a:r>
          </a:p>
        </p:txBody>
      </p:sp>
      <p:sp>
        <p:nvSpPr>
          <p:cNvPr id="8" name="">
            <a:extLst xmlns:a="http://schemas.openxmlformats.org/drawingml/2006/main">
              <a:ext uri="{FF2B5EF4-FFF2-40B4-BE49-F238E27FC236}">
                <a16:creationId xmlns:a16="http://schemas.microsoft.com/office/drawing/2014/main" id="{970C734E-A47B-4007-AC71-175ACC4CA3FD}"/>
              </a:ext>
            </a:extLst>
          </p:cNvPr>
          <p:cNvSpPr>
            <a:spLocks xmlns:a="http://schemas.openxmlformats.org/drawingml/2006/main" noGrp="1"/>
          </p:cNvSpPr>
          <p:nvPr/>
        </p:nvSpPr>
        <p:spPr>
          <a:xfrm xmlns:a="http://schemas.openxmlformats.org/drawingml/2006/main">
            <a:off x="5810250" y="4210050"/>
            <a:ext cx="5467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1">
                <a:solidFill>
                  <a:srgbClr val="A45D28"/>
                </a:solidFill>
                <a:latin typeface="Arial"/>
                <a:ea typeface="Arial"/>
                <a:cs typeface="Arial"/>
              </a:defRPr>
            </a:pPr>
            <a:r>
              <a:rPr sz="1575" b="1">
                <a:solidFill>
                  <a:srgbClr val="A45D28"/>
                </a:solidFill>
                <a:latin typeface="Arial"/>
                <a:ea typeface="Arial"/>
                <a:cs typeface="Arial"/>
              </a:rPr>
              <a:t>Caution: test variants share the same eight generated templates as training. Perfect scores measure agreement with synthetic labels, not real-world performance.</a:t>
            </a:r>
          </a:p>
        </p:txBody>
      </p:sp>
      <p:sp>
        <p:nvSpPr>
          <p:cNvPr id="9" name="">
            <a:extLst xmlns:a="http://schemas.openxmlformats.org/drawingml/2006/main">
              <a:ext uri="{FF2B5EF4-FFF2-40B4-BE49-F238E27FC236}">
                <a16:creationId xmlns:a16="http://schemas.microsoft.com/office/drawing/2014/main" id="{47DADF5D-9456-4F66-91D6-93BF5C463404}"/>
              </a:ext>
            </a:extLst>
          </p:cNvPr>
          <p:cNvSpPr>
            <a:spLocks xmlns:a="http://schemas.openxmlformats.org/drawingml/2006/main" noGrp="1"/>
          </p:cNvSpPr>
          <p:nvPr/>
        </p:nvSpPr>
        <p:spPr>
          <a:xfrm xmlns:a="http://schemas.openxmlformats.org/drawingml/2006/main">
            <a:off x="781050" y="59436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a:solidFill>
                  <a:srgbClr val="64756E"/>
                </a:solidFill>
                <a:latin typeface="Arial"/>
                <a:ea typeface="Arial"/>
                <a:cs typeface="Arial"/>
              </a:defRPr>
            </a:pPr>
            <a:r>
              <a:rPr sz="1200">
                <a:solidFill>
                  <a:srgbClr val="64756E"/>
                </a:solidFill>
                <a:latin typeface="Arial"/>
                <a:ea typeface="Arial"/>
                <a:cs typeface="Arial"/>
              </a:rPr>
              <a:t>Model: logistic regression selected by validation PR-AUC · Next-move probabilities calibrated on validation · Test: 120 cases / 825 wallet rows</a:t>
            </a:r>
          </a:p>
        </p:txBody>
      </p:sp>
    </p:spTree>
    <p:extLst>
      <p:ext uri="{BB962C8B-B14F-4D97-AF65-F5344CB8AC3E}">
        <p14:creationId xmlns:p14="http://schemas.microsoft.com/office/powerpoint/2010/main" val="11162761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D0CBA0-C3BB-4563-92B7-52D9FB76A04A}"/>
              </a:ext>
            </a:extLst>
          </p:cNvPr>
          <p:cNvSpPr>
            <a:spLocks xmlns:a="http://schemas.openxmlformats.org/drawingml/2006/main" noGrp="1"/>
          </p:cNvSpPr>
          <p:nvPr/>
        </p:nvSpPr>
        <p:spPr>
          <a:xfrm xmlns:a="http://schemas.openxmlformats.org/drawingml/2006/main">
            <a:off x="685800" y="4762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069"/>
          </a:bodyPr>
          <a:lstStyle xmlns:a="http://schemas.openxmlformats.org/drawingml/2006/main"/>
          <a:p xmlns:a="http://schemas.openxmlformats.org/drawingml/2006/main">
            <a:pPr>
              <a:defRPr sz="3000" b="1">
                <a:solidFill>
                  <a:srgbClr val="173B36"/>
                </a:solidFill>
                <a:latin typeface="Arial"/>
                <a:ea typeface="Arial"/>
                <a:cs typeface="Arial"/>
              </a:defRPr>
            </a:pPr>
            <a:r>
              <a:rPr sz="3000" b="1">
                <a:solidFill>
                  <a:srgbClr val="173B36"/>
                </a:solidFill>
                <a:latin typeface="Arial"/>
                <a:ea typeface="Arial"/>
                <a:cs typeface="Arial"/>
              </a:rPr>
              <a:t>Network proposals preserve more estimated taint—and affect more legitimate value</a:t>
            </a:r>
          </a:p>
        </p:txBody>
      </p:sp>
      <p:sp>
        <p:nvSpPr>
          <p:cNvPr id="2" name="">
            <a:extLst xmlns:a="http://schemas.openxmlformats.org/drawingml/2006/main">
              <a:ext uri="{FF2B5EF4-FFF2-40B4-BE49-F238E27FC236}">
                <a16:creationId xmlns:a16="http://schemas.microsoft.com/office/drawing/2014/main" id="{5073F526-872C-4CA9-85D7-41A94D268798}"/>
              </a:ext>
            </a:extLst>
          </p:cNvPr>
          <p:cNvSpPr>
            <a:spLocks xmlns:a="http://schemas.openxmlformats.org/drawingml/2006/main" noGrp="1"/>
          </p:cNvSpPr>
          <p:nvPr/>
        </p:nvSpPr>
        <p:spPr>
          <a:xfrm xmlns:a="http://schemas.openxmlformats.org/drawingml/2006/main">
            <a:off x="685800" y="125730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64756E"/>
                </a:solidFill>
                <a:latin typeface="Arial"/>
                <a:ea typeface="Arial"/>
                <a:cs typeface="Arial"/>
              </a:defRPr>
            </a:pPr>
            <a:r>
              <a:rPr sz="1425">
                <a:solidFill>
                  <a:srgbClr val="64756E"/>
                </a:solidFill>
                <a:latin typeface="Arial"/>
                <a:ea typeface="Arial"/>
                <a:cs typeface="Arial"/>
              </a:rPr>
              <a:t>Same 120 held-out cases · Same policy, model scores, snapshot, and per-wallet cap</a:t>
            </a:r>
          </a:p>
        </p:txBody>
      </p:sp>
      <p:graphicFrame>
        <p:nvGraphicFramePr>
          <p:cNvPr id="8" name=""/>
          <p:cNvGraphicFramePr/>
          <p:nvPr/>
        </p:nvGraphicFramePr>
        <p:xfrm>
          <a:off xmlns:a="http://schemas.openxmlformats.org/drawingml/2006/main" x="685800" y="1952625"/>
          <a:ext xmlns:a="http://schemas.openxmlformats.org/drawingml/2006/main" cx="10820400" cy="2857500"/>
        </p:xfrm>
        <a:graphic xmlns:a="http://schemas.openxmlformats.org/drawingml/2006/main">
          <a:graphicData uri="http://schemas.openxmlformats.org/drawingml/2006/table">
            <a:tbl>
              <a:tblPr firstRow="1" firstCol="1" bandRow="1"/>
              <a:tblGrid>
                <a:gridCol w="3429000"/>
                <a:gridCol w="2381250"/>
                <a:gridCol w="2571750"/>
                <a:gridCol w="2438400"/>
              </a:tblGrid>
              <a:tr h="571500">
                <a:tc>
                  <a:txBody>
                    <a:bodyPr/>
                    <a:lstStyle/>
                    <a:p>
                      <a:r>
                        <a:rPr sz="1200" b="1">
                          <a:solidFill>
                            <a:srgbClr val="FFFFFF"/>
                          </a:solidFill>
                          <a:latin typeface="Arial"/>
                          <a:ea typeface="Arial"/>
                          <a:cs typeface="Arial"/>
                        </a:rPr>
                        <a:t>MEASURE</a:t>
                      </a:r>
                    </a:p>
                  </a:txBody>
                  <a:tcPr marL="91440" marR="91440" marT="45720" marB="45720">
                    <a:solidFill>
                      <a:srgbClr val="173B36"/>
                    </a:solidFill>
                  </a:tcPr>
                </a:tc>
                <a:tc>
                  <a:txBody>
                    <a:bodyPr/>
                    <a:lstStyle/>
                    <a:p>
                      <a:r>
                        <a:rPr sz="1200" b="1">
                          <a:solidFill>
                            <a:srgbClr val="FFFFFF"/>
                          </a:solidFill>
                          <a:latin typeface="Arial"/>
                          <a:ea typeface="Arial"/>
                          <a:cs typeface="Arial"/>
                        </a:rPr>
                        <a:t>DIRECT RECIPIENT</a:t>
                      </a:r>
                    </a:p>
                  </a:txBody>
                  <a:tcPr marL="91440" marR="91440" marT="45720" marB="45720">
                    <a:solidFill>
                      <a:srgbClr val="173B36"/>
                    </a:solidFill>
                  </a:tcPr>
                </a:tc>
                <a:tc>
                  <a:txBody>
                    <a:bodyPr/>
                    <a:lstStyle/>
                    <a:p>
                      <a:r>
                        <a:rPr sz="1200" b="1">
                          <a:solidFill>
                            <a:srgbClr val="FFFFFF"/>
                          </a:solidFill>
                          <a:latin typeface="Arial"/>
                          <a:ea typeface="Arial"/>
                          <a:cs typeface="Arial"/>
                        </a:rPr>
                        <a:t>FLOWFREEZE NETWORK</a:t>
                      </a:r>
                    </a:p>
                  </a:txBody>
                  <a:tcPr marL="91440" marR="91440" marT="45720" marB="45720">
                    <a:solidFill>
                      <a:srgbClr val="173B36"/>
                    </a:solidFill>
                  </a:tcPr>
                </a:tc>
                <a:tc>
                  <a:txBody>
                    <a:bodyPr/>
                    <a:lstStyle/>
                    <a:p>
                      <a:r>
                        <a:rPr sz="1200" b="1">
                          <a:solidFill>
                            <a:srgbClr val="FFFFFF"/>
                          </a:solidFill>
                          <a:latin typeface="Arial"/>
                          <a:ea typeface="Arial"/>
                          <a:cs typeface="Arial"/>
                        </a:rPr>
                        <a:t>CHANGE</a:t>
                      </a:r>
                    </a:p>
                  </a:txBody>
                  <a:tcPr marL="91440" marR="91440" marT="45720" marB="45720">
                    <a:solidFill>
                      <a:srgbClr val="173B36"/>
                    </a:solidFill>
                  </a:tcPr>
                </a:tc>
              </a:tr>
              <a:tr h="571500">
                <a:tc>
                  <a:txBody>
                    <a:bodyPr/>
                    <a:lstStyle/>
                    <a:p>
                      <a:r>
                        <a:rPr sz="1425" b="1">
                          <a:solidFill>
                            <a:srgbClr val="173B36"/>
                          </a:solidFill>
                          <a:latin typeface="Arial"/>
                          <a:ea typeface="Arial"/>
                          <a:cs typeface="Arial"/>
                        </a:rPr>
                        <a:t>Cases with proposals</a:t>
                      </a:r>
                    </a:p>
                  </a:txBody>
                  <a:tcPr marL="91440" marR="91440" marT="45720" marB="45720">
                    <a:solidFill>
                      <a:srgbClr val="FFFFFF"/>
                    </a:solidFill>
                  </a:tcPr>
                </a:tc>
                <a:tc>
                  <a:txBody>
                    <a:bodyPr/>
                    <a:lstStyle/>
                    <a:p>
                      <a:r>
                        <a:rPr sz="1425" b="0">
                          <a:solidFill>
                            <a:srgbClr val="173B36"/>
                          </a:solidFill>
                          <a:latin typeface="Arial"/>
                          <a:ea typeface="Arial"/>
                          <a:cs typeface="Arial"/>
                        </a:rPr>
                        <a:t>30 (25.0%)</a:t>
                      </a:r>
                    </a:p>
                  </a:txBody>
                  <a:tcPr marL="91440" marR="91440" marT="45720" marB="45720">
                    <a:solidFill>
                      <a:srgbClr val="FFFFFF"/>
                    </a:solidFill>
                  </a:tcPr>
                </a:tc>
                <a:tc>
                  <a:txBody>
                    <a:bodyPr/>
                    <a:lstStyle/>
                    <a:p>
                      <a:r>
                        <a:rPr sz="1425" b="0">
                          <a:solidFill>
                            <a:srgbClr val="173B36"/>
                          </a:solidFill>
                          <a:latin typeface="Arial"/>
                          <a:ea typeface="Arial"/>
                          <a:cs typeface="Arial"/>
                        </a:rPr>
                        <a:t>75 (62.5%)</a:t>
                      </a:r>
                    </a:p>
                  </a:txBody>
                  <a:tcPr marL="91440" marR="91440" marT="45720" marB="45720">
                    <a:solidFill>
                      <a:srgbClr val="FFFFFF"/>
                    </a:solidFill>
                  </a:tcPr>
                </a:tc>
                <a:tc>
                  <a:txBody>
                    <a:bodyPr/>
                    <a:lstStyle/>
                    <a:p>
                      <a:r>
                        <a:rPr sz="1425" b="0">
                          <a:solidFill>
                            <a:srgbClr val="173B36"/>
                          </a:solidFill>
                          <a:latin typeface="Arial"/>
                          <a:ea typeface="Arial"/>
                          <a:cs typeface="Arial"/>
                        </a:rPr>
                        <a:t>+45 cases</a:t>
                      </a:r>
                    </a:p>
                  </a:txBody>
                  <a:tcPr marL="91440" marR="91440" marT="45720" marB="45720">
                    <a:solidFill>
                      <a:srgbClr val="FFFFFF"/>
                    </a:solidFill>
                  </a:tcPr>
                </a:tc>
              </a:tr>
              <a:tr h="571500">
                <a:tc>
                  <a:txBody>
                    <a:bodyPr/>
                    <a:lstStyle/>
                    <a:p>
                      <a:r>
                        <a:rPr sz="1425" b="1">
                          <a:solidFill>
                            <a:srgbClr val="173B36"/>
                          </a:solidFill>
                          <a:latin typeface="Arial"/>
                          <a:ea typeface="Arial"/>
                          <a:cs typeface="Arial"/>
                        </a:rPr>
                        <a:t>Proposed amount</a:t>
                      </a:r>
                    </a:p>
                  </a:txBody>
                  <a:tcPr marL="91440" marR="91440" marT="45720" marB="45720">
                    <a:solidFill>
                      <a:srgbClr val="F3F6F2"/>
                    </a:solidFill>
                  </a:tcPr>
                </a:tc>
                <a:tc>
                  <a:txBody>
                    <a:bodyPr/>
                    <a:lstStyle/>
                    <a:p>
                      <a:r>
                        <a:rPr sz="1425" b="0">
                          <a:solidFill>
                            <a:srgbClr val="173B36"/>
                          </a:solidFill>
                          <a:latin typeface="Arial"/>
                          <a:ea typeface="Arial"/>
                          <a:cs typeface="Arial"/>
                        </a:rPr>
                        <a:t>৳300,000.00</a:t>
                      </a:r>
                    </a:p>
                  </a:txBody>
                  <a:tcPr marL="91440" marR="91440" marT="45720" marB="45720">
                    <a:solidFill>
                      <a:srgbClr val="F3F6F2"/>
                    </a:solidFill>
                  </a:tcPr>
                </a:tc>
                <a:tc>
                  <a:txBody>
                    <a:bodyPr/>
                    <a:lstStyle/>
                    <a:p>
                      <a:r>
                        <a:rPr sz="1425" b="0">
                          <a:solidFill>
                            <a:srgbClr val="173B36"/>
                          </a:solidFill>
                          <a:latin typeface="Arial"/>
                          <a:ea typeface="Arial"/>
                          <a:cs typeface="Arial"/>
                        </a:rPr>
                        <a:t>৳900,000.00</a:t>
                      </a:r>
                    </a:p>
                  </a:txBody>
                  <a:tcPr marL="91440" marR="91440" marT="45720" marB="45720">
                    <a:solidFill>
                      <a:srgbClr val="F3F6F2"/>
                    </a:solidFill>
                  </a:tcPr>
                </a:tc>
                <a:tc>
                  <a:txBody>
                    <a:bodyPr/>
                    <a:lstStyle/>
                    <a:p>
                      <a:r>
                        <a:rPr sz="1425" b="0">
                          <a:solidFill>
                            <a:srgbClr val="173B36"/>
                          </a:solidFill>
                          <a:latin typeface="Arial"/>
                          <a:ea typeface="Arial"/>
                          <a:cs typeface="Arial"/>
                        </a:rPr>
                        <a:t>+৳600,000.00</a:t>
                      </a:r>
                    </a:p>
                  </a:txBody>
                  <a:tcPr marL="91440" marR="91440" marT="45720" marB="45720">
                    <a:solidFill>
                      <a:srgbClr val="F3F6F2"/>
                    </a:solidFill>
                  </a:tcPr>
                </a:tc>
              </a:tr>
              <a:tr h="571500">
                <a:tc>
                  <a:txBody>
                    <a:bodyPr/>
                    <a:lstStyle/>
                    <a:p>
                      <a:r>
                        <a:rPr sz="1425" b="1">
                          <a:solidFill>
                            <a:srgbClr val="173B36"/>
                          </a:solidFill>
                          <a:latin typeface="Arial"/>
                          <a:ea typeface="Arial"/>
                          <a:cs typeface="Arial"/>
                        </a:rPr>
                        <a:t>Estimated tainted value preserved</a:t>
                      </a:r>
                    </a:p>
                  </a:txBody>
                  <a:tcPr marL="91440" marR="91440" marT="45720" marB="45720">
                    <a:solidFill>
                      <a:srgbClr val="FFFFFF"/>
                    </a:solidFill>
                  </a:tcPr>
                </a:tc>
                <a:tc>
                  <a:txBody>
                    <a:bodyPr/>
                    <a:lstStyle/>
                    <a:p>
                      <a:r>
                        <a:rPr sz="1425" b="1">
                          <a:solidFill>
                            <a:srgbClr val="173B36"/>
                          </a:solidFill>
                          <a:latin typeface="Arial"/>
                          <a:ea typeface="Arial"/>
                          <a:cs typeface="Arial"/>
                        </a:rPr>
                        <a:t>৳299,955.17</a:t>
                      </a:r>
                    </a:p>
                  </a:txBody>
                  <a:tcPr marL="91440" marR="91440" marT="45720" marB="45720">
                    <a:solidFill>
                      <a:srgbClr val="FFFFFF"/>
                    </a:solidFill>
                  </a:tcPr>
                </a:tc>
                <a:tc>
                  <a:txBody>
                    <a:bodyPr/>
                    <a:lstStyle/>
                    <a:p>
                      <a:r>
                        <a:rPr sz="1425" b="1">
                          <a:solidFill>
                            <a:srgbClr val="173B36"/>
                          </a:solidFill>
                          <a:latin typeface="Arial"/>
                          <a:ea typeface="Arial"/>
                          <a:cs typeface="Arial"/>
                        </a:rPr>
                        <a:t>৳815,302.41</a:t>
                      </a:r>
                    </a:p>
                  </a:txBody>
                  <a:tcPr marL="91440" marR="91440" marT="45720" marB="45720">
                    <a:solidFill>
                      <a:srgbClr val="FFFFFF"/>
                    </a:solidFill>
                  </a:tcPr>
                </a:tc>
                <a:tc>
                  <a:txBody>
                    <a:bodyPr/>
                    <a:lstStyle/>
                    <a:p>
                      <a:r>
                        <a:rPr sz="1425" b="1">
                          <a:solidFill>
                            <a:srgbClr val="173B36"/>
                          </a:solidFill>
                          <a:latin typeface="Arial"/>
                          <a:ea typeface="Arial"/>
                          <a:cs typeface="Arial"/>
                        </a:rPr>
                        <a:t>+৳515,347.24</a:t>
                      </a:r>
                    </a:p>
                  </a:txBody>
                  <a:tcPr marL="91440" marR="91440" marT="45720" marB="45720">
                    <a:solidFill>
                      <a:srgbClr val="FFFFFF"/>
                    </a:solidFill>
                  </a:tcPr>
                </a:tc>
              </a:tr>
              <a:tr h="571500">
                <a:tc>
                  <a:txBody>
                    <a:bodyPr/>
                    <a:lstStyle/>
                    <a:p>
                      <a:r>
                        <a:rPr sz="1425" b="1">
                          <a:solidFill>
                            <a:srgbClr val="173B36"/>
                          </a:solidFill>
                          <a:latin typeface="Arial"/>
                          <a:ea typeface="Arial"/>
                          <a:cs typeface="Arial"/>
                        </a:rPr>
                        <a:t>Estimated legitimate value affected</a:t>
                      </a:r>
                    </a:p>
                  </a:txBody>
                  <a:tcPr marL="91440" marR="91440" marT="45720" marB="45720">
                    <a:solidFill>
                      <a:srgbClr val="F3F6F2"/>
                    </a:solidFill>
                  </a:tcPr>
                </a:tc>
                <a:tc>
                  <a:txBody>
                    <a:bodyPr/>
                    <a:lstStyle/>
                    <a:p>
                      <a:r>
                        <a:rPr sz="1425" b="0">
                          <a:solidFill>
                            <a:srgbClr val="173B36"/>
                          </a:solidFill>
                          <a:latin typeface="Arial"/>
                          <a:ea typeface="Arial"/>
                          <a:cs typeface="Arial"/>
                        </a:rPr>
                        <a:t>৳44.83</a:t>
                      </a:r>
                    </a:p>
                  </a:txBody>
                  <a:tcPr marL="91440" marR="91440" marT="45720" marB="45720">
                    <a:solidFill>
                      <a:srgbClr val="F3F6F2"/>
                    </a:solidFill>
                  </a:tcPr>
                </a:tc>
                <a:tc>
                  <a:txBody>
                    <a:bodyPr/>
                    <a:lstStyle/>
                    <a:p>
                      <a:r>
                        <a:rPr sz="1425" b="0">
                          <a:solidFill>
                            <a:srgbClr val="173B36"/>
                          </a:solidFill>
                          <a:latin typeface="Arial"/>
                          <a:ea typeface="Arial"/>
                          <a:cs typeface="Arial"/>
                        </a:rPr>
                        <a:t>৳84,697.59</a:t>
                      </a:r>
                    </a:p>
                  </a:txBody>
                  <a:tcPr marL="91440" marR="91440" marT="45720" marB="45720">
                    <a:solidFill>
                      <a:srgbClr val="F3F6F2"/>
                    </a:solidFill>
                  </a:tcPr>
                </a:tc>
                <a:tc>
                  <a:txBody>
                    <a:bodyPr/>
                    <a:lstStyle/>
                    <a:p>
                      <a:r>
                        <a:rPr sz="1425" b="0">
                          <a:solidFill>
                            <a:srgbClr val="173B36"/>
                          </a:solidFill>
                          <a:latin typeface="Arial"/>
                          <a:ea typeface="Arial"/>
                          <a:cs typeface="Arial"/>
                        </a:rPr>
                        <a:t>+৳84,652.76</a:t>
                      </a:r>
                    </a:p>
                  </a:txBody>
                  <a:tcPr marL="91440" marR="91440" marT="45720" marB="45720">
                    <a:solidFill>
                      <a:srgbClr val="F3F6F2"/>
                    </a:solidFill>
                  </a:tcPr>
                </a:tc>
              </a:tr>
            </a:tbl>
          </a:graphicData>
        </a:graphic>
      </p:graphicFrame>
      <p:sp>
        <p:nvSpPr>
          <p:cNvPr id="4" name="">
            <a:extLst xmlns:a="http://schemas.openxmlformats.org/drawingml/2006/main">
              <a:ext uri="{FF2B5EF4-FFF2-40B4-BE49-F238E27FC236}">
                <a16:creationId xmlns:a16="http://schemas.microsoft.com/office/drawing/2014/main" id="{C9B975EB-E367-4055-96CD-97009442A04B}"/>
              </a:ext>
            </a:extLst>
          </p:cNvPr>
          <p:cNvSpPr>
            <a:spLocks xmlns:a="http://schemas.openxmlformats.org/drawingml/2006/main" noGrp="1"/>
          </p:cNvSpPr>
          <p:nvPr/>
        </p:nvSpPr>
        <p:spPr>
          <a:xfrm xmlns:a="http://schemas.openxmlformats.org/drawingml/2006/main">
            <a:off x="723900" y="51911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a:solidFill>
                  <a:srgbClr val="A45D28"/>
                </a:solidFill>
                <a:latin typeface="Arial"/>
                <a:ea typeface="Arial"/>
                <a:cs typeface="Arial"/>
              </a:defRPr>
            </a:pPr>
            <a:r>
              <a:rPr sz="1350">
                <a:solidFill>
                  <a:srgbClr val="A45D28"/>
                </a:solidFill>
                <a:latin typeface="Arial"/>
                <a:ea typeface="Arial"/>
                <a:cs typeface="Arial"/>
              </a:rPr>
              <a:t>Counterfactual: assumes each proposal takes effect immediately; preserved/affected estimates are scored against generated remaining-taint labels. Not observed losses, recoveries, or customer impact.</a:t>
            </a:r>
          </a:p>
        </p:txBody>
      </p:sp>
      <p:sp>
        <p:nvSpPr>
          <p:cNvPr id="5" name="">
            <a:extLst xmlns:a="http://schemas.openxmlformats.org/drawingml/2006/main">
              <a:ext uri="{FF2B5EF4-FFF2-40B4-BE49-F238E27FC236}">
                <a16:creationId xmlns:a16="http://schemas.microsoft.com/office/drawing/2014/main" id="{935535B5-EECD-4CA5-94E3-1C1CB4D5E3C6}"/>
              </a:ext>
            </a:extLst>
          </p:cNvPr>
          <p:cNvSpPr>
            <a:spLocks xmlns:a="http://schemas.openxmlformats.org/drawingml/2006/main" noGrp="1"/>
          </p:cNvSpPr>
          <p:nvPr/>
        </p:nvSpPr>
        <p:spPr>
          <a:xfrm xmlns:a="http://schemas.openxmlformats.org/drawingml/2006/main">
            <a:off x="723900" y="61150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a:solidFill>
                  <a:srgbClr val="64756E"/>
                </a:solidFill>
                <a:latin typeface="Arial"/>
                <a:ea typeface="Arial"/>
                <a:cs typeface="Arial"/>
              </a:defRPr>
            </a:pPr>
            <a:r>
              <a:rPr sz="1125">
                <a:solidFill>
                  <a:srgbClr val="64756E"/>
                </a:solidFill>
                <a:latin typeface="Arial"/>
                <a:ea typeface="Arial"/>
                <a:cs typeface="Arial"/>
              </a:rPr>
              <a:t>Median recommendation time 33.8 ms · p95 48.7 ms on one local run (startup and feature/model loading excluded)</a:t>
            </a:r>
          </a:p>
        </p:txBody>
      </p:sp>
    </p:spTree>
    <p:extLst>
      <p:ext uri="{BB962C8B-B14F-4D97-AF65-F5344CB8AC3E}">
        <p14:creationId xmlns:p14="http://schemas.microsoft.com/office/powerpoint/2010/main" val="1597964987"/>
      </p:ext>
    </p:extLst>
  </p:cSld>
</p:sld>
</file>

<file path=ppt/slides/slide6.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F5FD5C-968C-4D12-BFF2-0C60345B6AA1}"/>
              </a:ext>
            </a:extLst>
          </p:cNvPr>
          <p:cNvSpPr>
            <a:spLocks xmlns:a="http://schemas.openxmlformats.org/drawingml/2006/main" noGrp="1"/>
          </p:cNvSpPr>
          <p:nvPr/>
        </p:nvSpPr>
        <p:spPr>
          <a:xfrm xmlns:a="http://schemas.openxmlformats.org/drawingml/2006/main">
            <a:off x="685800" y="4762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 prototype boundary—and what validation would require</a:t>
            </a:r>
          </a:p>
        </p:txBody>
      </p:sp>
      <p:sp>
        <p:nvSpPr>
          <p:cNvPr id="2" name="">
            <a:extLst xmlns:a="http://schemas.openxmlformats.org/drawingml/2006/main">
              <a:ext uri="{FF2B5EF4-FFF2-40B4-BE49-F238E27FC236}">
                <a16:creationId xmlns:a16="http://schemas.microsoft.com/office/drawing/2014/main" id="{C62966FC-DCEF-4459-B933-5127E5637973}"/>
              </a:ext>
            </a:extLst>
          </p:cNvPr>
          <p:cNvSpPr>
            <a:spLocks xmlns:a="http://schemas.openxmlformats.org/drawingml/2006/main" noGrp="1"/>
          </p:cNvSpPr>
          <p:nvPr/>
        </p:nvSpPr>
        <p:spPr>
          <a:xfrm xmlns:a="http://schemas.openxmlformats.org/drawingml/2006/main">
            <a:off x="781050" y="16002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C9E96B"/>
                </a:solidFill>
                <a:latin typeface="Arial"/>
                <a:ea typeface="Arial"/>
                <a:cs typeface="Arial"/>
              </a:defRPr>
            </a:pPr>
            <a:r>
              <a:rPr sz="1200" b="1">
                <a:solidFill>
                  <a:srgbClr val="C9E96B"/>
                </a:solidFill>
                <a:latin typeface="Arial"/>
                <a:ea typeface="Arial"/>
                <a:cs typeface="Arial"/>
              </a:rPr>
              <a:t>TODAY</a:t>
            </a:r>
          </a:p>
        </p:txBody>
      </p:sp>
      <p:sp>
        <p:nvSpPr>
          <p:cNvPr id="3" name="">
            <a:extLst xmlns:a="http://schemas.openxmlformats.org/drawingml/2006/main">
              <a:ext uri="{FF2B5EF4-FFF2-40B4-BE49-F238E27FC236}">
                <a16:creationId xmlns:a16="http://schemas.microsoft.com/office/drawing/2014/main" id="{3D4B0496-1256-453A-9A4D-A203E47FD442}"/>
              </a:ext>
            </a:extLst>
          </p:cNvPr>
          <p:cNvSpPr>
            <a:spLocks xmlns:a="http://schemas.openxmlformats.org/drawingml/2006/main" noGrp="1"/>
          </p:cNvSpPr>
          <p:nvPr/>
        </p:nvSpPr>
        <p:spPr>
          <a:xfrm xmlns:a="http://schemas.openxmlformats.org/drawingml/2006/main">
            <a:off x="781050" y="2019300"/>
            <a:ext cx="4667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a:solidFill>
                  <a:srgbClr val="FFFFFF"/>
                </a:solidFill>
                <a:latin typeface="Arial"/>
                <a:ea typeface="Arial"/>
                <a:cs typeface="Arial"/>
              </a:defRPr>
            </a:pPr>
            <a:r>
              <a:rPr sz="1725">
                <a:solidFill>
                  <a:srgbClr val="FFFFFF"/>
                </a:solidFill>
                <a:latin typeface="Arial"/>
                <a:ea typeface="Arial"/>
                <a:cs typeface="Arial"/>
              </a:rPr>
              <a:t>Synthetic records only</a:t>
            </a:r>
          </a:p>
          <a:p xmlns:a="http://schemas.openxmlformats.org/drawingml/2006/main">
            <a:pPr>
              <a:defRPr sz="1725">
                <a:solidFill>
                  <a:srgbClr val="FFFFFF"/>
                </a:solidFill>
                <a:latin typeface="Arial"/>
                <a:ea typeface="Arial"/>
                <a:cs typeface="Arial"/>
              </a:defRPr>
            </a:pPr>
            <a:r>
              <a:rPr sz="1725">
                <a:solidFill>
                  <a:srgbClr val="FFFFFF"/>
                </a:solidFill>
                <a:latin typeface="Arial"/>
                <a:ea typeface="Arial"/>
                <a:cs typeface="Arial"/>
              </a:rPr>
              <a:t>Scores are advisory</a:t>
            </a:r>
          </a:p>
          <a:p xmlns:a="http://schemas.openxmlformats.org/drawingml/2006/main">
            <a:pPr>
              <a:defRPr sz="1725">
                <a:solidFill>
                  <a:srgbClr val="FFFFFF"/>
                </a:solidFill>
                <a:latin typeface="Arial"/>
                <a:ea typeface="Arial"/>
                <a:cs typeface="Arial"/>
              </a:defRPr>
            </a:pPr>
            <a:r>
              <a:rPr sz="1725">
                <a:solidFill>
                  <a:srgbClr val="FFFFFF"/>
                </a:solidFill>
                <a:latin typeface="Arial"/>
                <a:ea typeface="Arial"/>
                <a:cs typeface="Arial"/>
              </a:rPr>
              <a:t>Proposals require analyst review</a:t>
            </a:r>
          </a:p>
          <a:p xmlns:a="http://schemas.openxmlformats.org/drawingml/2006/main">
            <a:pPr>
              <a:defRPr sz="1725">
                <a:solidFill>
                  <a:srgbClr val="FFFFFF"/>
                </a:solidFill>
                <a:latin typeface="Arial"/>
                <a:ea typeface="Arial"/>
                <a:cs typeface="Arial"/>
              </a:defRPr>
            </a:pPr>
            <a:r>
              <a:rPr sz="1725">
                <a:solidFill>
                  <a:srgbClr val="FFFFFF"/>
                </a:solidFill>
                <a:latin typeface="Arial"/>
                <a:ea typeface="Arial"/>
                <a:cs typeface="Arial"/>
              </a:rPr>
              <a:t>No provider connection or wallet action</a:t>
            </a:r>
          </a:p>
        </p:txBody>
      </p:sp>
      <p:sp>
        <p:nvSpPr>
          <p:cNvPr id="4" name="">
            <a:extLst xmlns:a="http://schemas.openxmlformats.org/drawingml/2006/main">
              <a:ext uri="{FF2B5EF4-FFF2-40B4-BE49-F238E27FC236}">
                <a16:creationId xmlns:a16="http://schemas.microsoft.com/office/drawing/2014/main" id="{4BBD8352-4201-4F06-B709-D96F21C186EF}"/>
              </a:ext>
            </a:extLst>
          </p:cNvPr>
          <p:cNvSpPr>
            <a:spLocks xmlns:a="http://schemas.openxmlformats.org/drawingml/2006/main" noGrp="1"/>
          </p:cNvSpPr>
          <p:nvPr/>
        </p:nvSpPr>
        <p:spPr>
          <a:xfrm xmlns:a="http://schemas.openxmlformats.org/drawingml/2006/main">
            <a:off x="6191250" y="16002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C9E96B"/>
                </a:solidFill>
                <a:latin typeface="Arial"/>
                <a:ea typeface="Arial"/>
                <a:cs typeface="Arial"/>
              </a:defRPr>
            </a:pPr>
            <a:r>
              <a:rPr sz="1200" b="1">
                <a:solidFill>
                  <a:srgbClr val="C9E96B"/>
                </a:solidFill>
                <a:latin typeface="Arial"/>
                <a:ea typeface="Arial"/>
                <a:cs typeface="Arial"/>
              </a:rPr>
              <a:t>BEFORE REAL-WORLD RESEARCH</a:t>
            </a:r>
          </a:p>
        </p:txBody>
      </p:sp>
      <p:sp>
        <p:nvSpPr>
          <p:cNvPr id="5" name="">
            <a:extLst xmlns:a="http://schemas.openxmlformats.org/drawingml/2006/main">
              <a:ext uri="{FF2B5EF4-FFF2-40B4-BE49-F238E27FC236}">
                <a16:creationId xmlns:a16="http://schemas.microsoft.com/office/drawing/2014/main" id="{3B7776A0-FEF0-4D47-B16E-CDF852A077F1}"/>
              </a:ext>
            </a:extLst>
          </p:cNvPr>
          <p:cNvSpPr>
            <a:spLocks xmlns:a="http://schemas.openxmlformats.org/drawingml/2006/main" noGrp="1"/>
          </p:cNvSpPr>
          <p:nvPr/>
        </p:nvSpPr>
        <p:spPr>
          <a:xfrm xmlns:a="http://schemas.openxmlformats.org/drawingml/2006/main">
            <a:off x="6191250" y="2019300"/>
            <a:ext cx="4953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FFFFFF"/>
                </a:solidFill>
                <a:latin typeface="Arial"/>
                <a:ea typeface="Arial"/>
                <a:cs typeface="Arial"/>
              </a:defRPr>
            </a:pPr>
            <a:r>
              <a:rPr sz="1575">
                <a:solidFill>
                  <a:srgbClr val="FFFFFF"/>
                </a:solidFill>
                <a:latin typeface="Arial"/>
                <a:ea typeface="Arial"/>
                <a:cs typeface="Arial"/>
              </a:rPr>
              <a:t>Provider and legal authorization</a:t>
            </a:r>
          </a:p>
          <a:p xmlns:a="http://schemas.openxmlformats.org/drawingml/2006/main">
            <a:pPr>
              <a:defRPr sz="1575">
                <a:solidFill>
                  <a:srgbClr val="FFFFFF"/>
                </a:solidFill>
                <a:latin typeface="Arial"/>
                <a:ea typeface="Arial"/>
                <a:cs typeface="Arial"/>
              </a:defRPr>
            </a:pPr>
            <a:r>
              <a:rPr sz="1575">
                <a:solidFill>
                  <a:srgbClr val="FFFFFF"/>
                </a:solidFill>
                <a:latin typeface="Arial"/>
                <a:ea typeface="Arial"/>
                <a:cs typeface="Arial"/>
              </a:rPr>
              <a:t>Representative, independently labeled data</a:t>
            </a:r>
          </a:p>
          <a:p xmlns:a="http://schemas.openxmlformats.org/drawingml/2006/main">
            <a:pPr>
              <a:defRPr sz="1575">
                <a:solidFill>
                  <a:srgbClr val="FFFFFF"/>
                </a:solidFill>
                <a:latin typeface="Arial"/>
                <a:ea typeface="Arial"/>
                <a:cs typeface="Arial"/>
              </a:defRPr>
            </a:pPr>
            <a:r>
              <a:rPr sz="1575">
                <a:solidFill>
                  <a:srgbClr val="FFFFFF"/>
                </a:solidFill>
                <a:latin typeface="Arial"/>
                <a:ea typeface="Arial"/>
                <a:cs typeface="Arial"/>
              </a:rPr>
              <a:t>Privacy, security, access, and retention controls</a:t>
            </a:r>
          </a:p>
          <a:p xmlns:a="http://schemas.openxmlformats.org/drawingml/2006/main">
            <a:pPr>
              <a:defRPr sz="1575">
                <a:solidFill>
                  <a:srgbClr val="FFFFFF"/>
                </a:solidFill>
                <a:latin typeface="Arial"/>
                <a:ea typeface="Arial"/>
                <a:cs typeface="Arial"/>
              </a:defRPr>
            </a:pPr>
            <a:r>
              <a:rPr sz="1575">
                <a:solidFill>
                  <a:srgbClr val="FFFFFF"/>
                </a:solidFill>
                <a:latin typeface="Arial"/>
                <a:ea typeface="Arial"/>
                <a:cs typeface="Arial"/>
              </a:rPr>
              <a:t>Out-of-time, subgroup, calibration, and abuse testing</a:t>
            </a:r>
          </a:p>
          <a:p xmlns:a="http://schemas.openxmlformats.org/drawingml/2006/main">
            <a:pPr>
              <a:defRPr sz="1575">
                <a:solidFill>
                  <a:srgbClr val="FFFFFF"/>
                </a:solidFill>
                <a:latin typeface="Arial"/>
                <a:ea typeface="Arial"/>
                <a:cs typeface="Arial"/>
              </a:defRPr>
            </a:pPr>
            <a:r>
              <a:rPr sz="1575">
                <a:solidFill>
                  <a:srgbClr val="FFFFFF"/>
                </a:solidFill>
                <a:latin typeface="Arial"/>
                <a:ea typeface="Arial"/>
                <a:cs typeface="Arial"/>
              </a:rPr>
              <a:t>Human review, appeal, and monitoring design</a:t>
            </a:r>
          </a:p>
        </p:txBody>
      </p:sp>
      <p:sp>
        <p:nvSpPr>
          <p:cNvPr id="6" name="">
            <a:extLst xmlns:a="http://schemas.openxmlformats.org/drawingml/2006/main">
              <a:ext uri="{FF2B5EF4-FFF2-40B4-BE49-F238E27FC236}">
                <a16:creationId xmlns:a16="http://schemas.microsoft.com/office/drawing/2014/main" id="{3E2EC225-C1E3-4A29-AB0E-5BAF6F5A2BD3}"/>
              </a:ext>
            </a:extLst>
          </p:cNvPr>
          <p:cNvSpPr>
            <a:spLocks xmlns:a="http://schemas.openxmlformats.org/drawingml/2006/main" noGrp="1"/>
          </p:cNvSpPr>
          <p:nvPr/>
        </p:nvSpPr>
        <p:spPr>
          <a:xfrm xmlns:a="http://schemas.openxmlformats.org/drawingml/2006/main">
            <a:off x="781050" y="53340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C9E96B"/>
                </a:solidFill>
                <a:latin typeface="Arial"/>
                <a:ea typeface="Arial"/>
                <a:cs typeface="Arial"/>
              </a:defRPr>
            </a:pPr>
            <a:r>
              <a:rPr sz="2250" b="1">
                <a:solidFill>
                  <a:srgbClr val="C9E96B"/>
                </a:solidFill>
                <a:latin typeface="Arial"/>
                <a:ea typeface="Arial"/>
                <a:cs typeface="Arial"/>
              </a:rPr>
              <a:t>Demo success is not production readiness.</a:t>
            </a:r>
          </a:p>
        </p:txBody>
      </p:sp>
      <p:sp>
        <p:nvSpPr>
          <p:cNvPr id="7" name="">
            <a:extLst xmlns:a="http://schemas.openxmlformats.org/drawingml/2006/main">
              <a:ext uri="{FF2B5EF4-FFF2-40B4-BE49-F238E27FC236}">
                <a16:creationId xmlns:a16="http://schemas.microsoft.com/office/drawing/2014/main" id="{BB7FB323-E7D3-43C2-A6A5-4B93D727AAC6}"/>
              </a:ext>
            </a:extLst>
          </p:cNvPr>
          <p:cNvSpPr>
            <a:spLocks xmlns:a="http://schemas.openxmlformats.org/drawingml/2006/main" noGrp="1"/>
          </p:cNvSpPr>
          <p:nvPr/>
        </p:nvSpPr>
        <p:spPr>
          <a:xfrm xmlns:a="http://schemas.openxmlformats.org/drawingml/2006/main">
            <a:off x="781050" y="6134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D2DED6"/>
                </a:solidFill>
                <a:latin typeface="Arial"/>
                <a:ea typeface="Arial"/>
                <a:cs typeface="Arial"/>
              </a:defRPr>
            </a:pPr>
            <a:r>
              <a:rPr sz="1275">
                <a:solidFill>
                  <a:srgbClr val="D2DED6"/>
                </a:solidFill>
                <a:latin typeface="Arial"/>
                <a:ea typeface="Arial"/>
                <a:cs typeface="Arial"/>
              </a:rPr>
              <a:t>FlowFreeze · upay BD sponsored hackathon · Synthetic prototype</a:t>
            </a:r>
          </a:p>
        </p:txBody>
      </p:sp>
    </p:spTree>
    <p:extLst>
      <p:ext uri="{BB962C8B-B14F-4D97-AF65-F5344CB8AC3E}">
        <p14:creationId xmlns:p14="http://schemas.microsoft.com/office/powerpoint/2010/main" val="1012191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2026-10-02T19:59:01.3930000Z</dcterms:created>
  <dcterms:modified xsi:type="dcterms:W3CDTF">2026-10-02T19:59:01.3930000Z</dcterms:modified>
</coreProperties>
</file>